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066C2-0E81-71BC-CBA4-530B17426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766BCF-6E1C-A924-6D8C-8A4EC4E4FA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A65F3-42BD-E9F0-6354-1AFA8213D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A0D2F-A5DC-49E8-A107-36F4BE15D20A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6C2C4-116D-B734-4821-C269EB6AB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72005-9F6C-3505-93C7-102066076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51CF-FDF3-4B35-BA5C-D9CA1ECFC2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877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3C544-9945-452E-4F15-20CB298DB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71B28-42EF-EF94-FA92-8E7768C8F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47961-34AF-2D49-0FF7-57C0792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A0D2F-A5DC-49E8-A107-36F4BE15D20A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4F9FE-DF1D-CFEF-63B8-681DAAF1F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5BB78-6955-0BDA-E017-DB06744D8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51CF-FDF3-4B35-BA5C-D9CA1ECFC2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639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E2B13-E5D4-0569-3C74-8A7A01BE2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E5C4A3-B29D-9CB0-9EB3-D3B72DFA5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8D504-DD9A-4C09-B730-9D66FD4F1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A0D2F-A5DC-49E8-A107-36F4BE15D20A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3582EC-544B-22BA-6370-55B930333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F05D50-9482-3AE7-7673-50C4394E4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51CF-FDF3-4B35-BA5C-D9CA1ECFC2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177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3DEF2-9701-A372-4213-D4C0A7AF2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72906-F603-75C6-D096-B7B06F92A7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DF0746-8254-085D-E985-FD559E2299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AA8371-06CD-CF23-C772-BA919DE6B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A0D2F-A5DC-49E8-A107-36F4BE15D20A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44BF76-100F-4841-3BA0-EB705EA35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5F1970-1C85-6F0D-B70B-03A1A2875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51CF-FDF3-4B35-BA5C-D9CA1ECFC2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78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23742-1ABA-8957-3116-8681AF3F8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4151BA-9BD7-48C3-A341-D03701E5A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6C723-DE40-432A-FB56-90956D185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62E244-0996-FA76-38C1-593E1F3620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58107C-42C3-5EA8-1A4B-1E816C14D1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4DF06-3DE2-DC6E-CD5B-CFA65F362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A0D2F-A5DC-49E8-A107-36F4BE15D20A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785985-7056-A2FB-49F1-21B2286D3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86C40E-5EB7-6B70-2E23-F4E5CFAE9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51CF-FDF3-4B35-BA5C-D9CA1ECFC2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046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9CA64-E521-E720-7F30-A73EB384A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9E8CAA-F173-07B4-F14A-CFD0A8F91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A0D2F-A5DC-49E8-A107-36F4BE15D20A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A49801-ED7C-1B20-623F-EE7F5090F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91026F-EE41-E76D-DC0D-A2D274994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51CF-FDF3-4B35-BA5C-D9CA1ECFC2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132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DD9140-E083-5098-5EC7-41518B00D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A0D2F-A5DC-49E8-A107-36F4BE15D20A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28EAA5-E6BD-CC3C-F663-162283DC6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FA7FC-E789-4A0E-0AD7-21360B157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51CF-FDF3-4B35-BA5C-D9CA1ECFC2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098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2CC54-4E0C-A01E-042E-7199ECBFD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F477F-5601-3EF8-3B0A-A6F56245C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82AD70-023F-CBC7-396D-2792AE2C3A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CC1C71-4052-8E9C-FDBB-373F00B88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A0D2F-A5DC-49E8-A107-36F4BE15D20A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8AA1D9-204A-D509-5493-87397BDF6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DAE4FD-DF27-4461-161A-29CCF29F4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51CF-FDF3-4B35-BA5C-D9CA1ECFC2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614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57AA5-CBEA-AA94-B6AE-65B7082AE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E7996F-1542-5F60-F72A-A41AC96EDF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72FB20-2C81-E130-487B-6514F363E2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1A9893-5DEA-5FEB-DFBE-14ABECC8E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A0D2F-A5DC-49E8-A107-36F4BE15D20A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E4B73B-6CB7-2ECD-1C0D-521428547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FB070D-70D8-AC92-EC6B-FB31B9ACC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51CF-FDF3-4B35-BA5C-D9CA1ECFC2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429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C66DB-3973-B912-ECE9-974721017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BCCC00-1C19-C4D2-5BAC-67A2937555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5F3D1-550B-6BD3-8C9C-3CF06635A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A0D2F-A5DC-49E8-A107-36F4BE15D20A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C71F4-3B77-4EA6-AA35-851A6F1C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AE6C88-3573-F37D-0546-17C3EA31D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51CF-FDF3-4B35-BA5C-D9CA1ECFC2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19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DD60F4-4744-4587-145C-5C534D263C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716161-151D-F015-47C1-A2FC3A037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588FE-9C42-5FC6-B7D7-1B0AB2DD3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A0D2F-A5DC-49E8-A107-36F4BE15D20A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F3396-5FED-C4E3-CF0A-4A94B94EE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E2BE6-767C-8A83-6DF7-A7149740C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C51CF-FDF3-4B35-BA5C-D9CA1ECFC2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799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FD9C5F-68F5-E2B7-2EF0-3AA08E43C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7FD166-849C-FAE4-A14E-A9648B8D1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31B53-9D61-BAD3-B291-F31F31C194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CA0D2F-A5DC-49E8-A107-36F4BE15D20A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19BC8-B39A-ECAB-2E45-22ADFEFCE5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1DC43-3837-C90C-F023-CBB9CF417B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6C51CF-FDF3-4B35-BA5C-D9CA1ECFC2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946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utodesk.com/solutions/generative-design/manufacturing?utm_source=chatgpt.com" TargetMode="External"/><Relationship Id="rId2" Type="http://schemas.openxmlformats.org/officeDocument/2006/relationships/hyperlink" Target="https://openai.com/index/economic-impacts-research/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fiir.upb.ro/index.php/en/?utm_source=chatgpt.com" TargetMode="External"/><Relationship Id="rId5" Type="http://schemas.openxmlformats.org/officeDocument/2006/relationships/hyperlink" Target="https://www.fiir.upb.ro/index.php/en/" TargetMode="External"/><Relationship Id="rId4" Type="http://schemas.openxmlformats.org/officeDocument/2006/relationships/hyperlink" Target="https://docs.blender.org/api/current/index.html?utm_source=chatgpt.com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access.thecvf.com/content/CVPR2024/papers/Liu_DIRECT-3D_Learning_Direct_Text-to-3D_Generation_on_Massive_Noisy_3D_Data_CVPR_2024_paper.pdf" TargetMode="External"/><Relationship Id="rId7" Type="http://schemas.openxmlformats.org/officeDocument/2006/relationships/hyperlink" Target="https://openai.com/research" TargetMode="External"/><Relationship Id="rId2" Type="http://schemas.openxmlformats.org/officeDocument/2006/relationships/hyperlink" Target="https://arxiv.org/html/2503.03664v1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uggingface.co/docs/transformers/index" TargetMode="External"/><Relationship Id="rId5" Type="http://schemas.openxmlformats.org/officeDocument/2006/relationships/hyperlink" Target="https://docs.blender.org/api/current/index.html" TargetMode="External"/><Relationship Id="rId4" Type="http://schemas.openxmlformats.org/officeDocument/2006/relationships/hyperlink" Target="https://www.sciencedirect.com/science/article/pii/S221282712401235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45B7BE-8A0C-2BD6-14B9-1A4DCD147D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05309" y="2286030"/>
            <a:ext cx="5381382" cy="1885543"/>
          </a:xfrm>
        </p:spPr>
        <p:txBody>
          <a:bodyPr>
            <a:normAutofit/>
          </a:bodyPr>
          <a:lstStyle/>
          <a:p>
            <a:r>
              <a:rPr lang="en-US" sz="4000" b="1" dirty="0" err="1">
                <a:solidFill>
                  <a:schemeClr val="bg1"/>
                </a:solidFill>
              </a:rPr>
              <a:t>Generarea</a:t>
            </a:r>
            <a:r>
              <a:rPr lang="en-US" sz="4000" b="1" dirty="0">
                <a:solidFill>
                  <a:schemeClr val="bg1"/>
                </a:solidFill>
              </a:rPr>
              <a:t> de </a:t>
            </a:r>
            <a:r>
              <a:rPr lang="en-US" sz="4000" b="1" dirty="0" err="1">
                <a:solidFill>
                  <a:schemeClr val="bg1"/>
                </a:solidFill>
              </a:rPr>
              <a:t>forme</a:t>
            </a:r>
            <a:r>
              <a:rPr lang="en-US" sz="4000" b="1" dirty="0">
                <a:solidFill>
                  <a:schemeClr val="bg1"/>
                </a:solidFill>
              </a:rPr>
              <a:t> 3D </a:t>
            </a:r>
            <a:r>
              <a:rPr lang="en-US" sz="4000" b="1" dirty="0" err="1">
                <a:solidFill>
                  <a:schemeClr val="bg1"/>
                </a:solidFill>
              </a:rPr>
              <a:t>în</a:t>
            </a:r>
            <a:r>
              <a:rPr lang="en-US" sz="4000" b="1" dirty="0">
                <a:solidFill>
                  <a:schemeClr val="bg1"/>
                </a:solidFill>
              </a:rPr>
              <a:t> Blender cu </a:t>
            </a:r>
            <a:r>
              <a:rPr lang="en-US" sz="4000" b="1" dirty="0" err="1">
                <a:solidFill>
                  <a:schemeClr val="bg1"/>
                </a:solidFill>
              </a:rPr>
              <a:t>ajutorul</a:t>
            </a:r>
            <a:r>
              <a:rPr lang="en-US" sz="4000" b="1" dirty="0">
                <a:solidFill>
                  <a:schemeClr val="bg1"/>
                </a:solidFill>
              </a:rPr>
              <a:t> </a:t>
            </a:r>
            <a:r>
              <a:rPr lang="en-US" sz="4000" b="1" dirty="0" err="1">
                <a:solidFill>
                  <a:schemeClr val="bg1"/>
                </a:solidFill>
              </a:rPr>
              <a:t>Rețelelor</a:t>
            </a:r>
            <a:r>
              <a:rPr lang="en-US" sz="4000" b="1" dirty="0">
                <a:solidFill>
                  <a:schemeClr val="bg1"/>
                </a:solidFill>
              </a:rPr>
              <a:t> </a:t>
            </a:r>
            <a:r>
              <a:rPr lang="en-US" sz="4000" b="1" dirty="0" err="1">
                <a:solidFill>
                  <a:schemeClr val="bg1"/>
                </a:solidFill>
              </a:rPr>
              <a:t>Neuronale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E31307-5D13-6EF8-2957-3F5A61380C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400" y="5579311"/>
            <a:ext cx="4624084" cy="891331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</a:rPr>
              <a:t>Student: Caldararu Denisa Elena</a:t>
            </a:r>
          </a:p>
          <a:p>
            <a:pPr algn="l"/>
            <a:r>
              <a:rPr lang="en-US" sz="2000" dirty="0">
                <a:solidFill>
                  <a:schemeClr val="bg1"/>
                </a:solidFill>
              </a:rPr>
              <a:t>Grupa: 631AB</a:t>
            </a:r>
          </a:p>
          <a:p>
            <a:pPr algn="l"/>
            <a:r>
              <a:rPr lang="en-US" sz="2000" dirty="0" err="1">
                <a:solidFill>
                  <a:schemeClr val="bg1"/>
                </a:solidFill>
              </a:rPr>
              <a:t>Coordonator</a:t>
            </a:r>
            <a:r>
              <a:rPr lang="en-US" sz="2000" dirty="0">
                <a:solidFill>
                  <a:schemeClr val="bg1"/>
                </a:solidFill>
              </a:rPr>
              <a:t>: Conf. Dr. Ing. Bogdan Felician ABAZA</a:t>
            </a:r>
          </a:p>
          <a:p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6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0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55698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5C6DCD9-C2E1-9A1D-51EE-901155981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755" y="2371871"/>
            <a:ext cx="5204489" cy="186423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1. </a:t>
            </a:r>
            <a:r>
              <a:rPr lang="en-US" sz="54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Descriere</a:t>
            </a:r>
            <a:r>
              <a:rPr lang="en-US" sz="5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Nevoie</a:t>
            </a:r>
            <a:endParaRPr lang="en-US" sz="5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7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9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1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9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02167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9722B5-A3D6-FB26-E7C7-D2FF7DDEE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3846" y="2040556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en-US" b="1" dirty="0" err="1">
                <a:solidFill>
                  <a:schemeClr val="bg1"/>
                </a:solidFill>
              </a:rPr>
              <a:t>Ideea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generală</a:t>
            </a:r>
            <a:r>
              <a:rPr lang="en-US" b="1" dirty="0">
                <a:solidFill>
                  <a:schemeClr val="bg1"/>
                </a:solidFill>
              </a:rPr>
              <a:t> a </a:t>
            </a:r>
            <a:r>
              <a:rPr lang="en-US" b="1" dirty="0" err="1">
                <a:solidFill>
                  <a:schemeClr val="bg1"/>
                </a:solidFill>
              </a:rPr>
              <a:t>proiectului</a:t>
            </a:r>
            <a:br>
              <a:rPr lang="en-US" b="1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D7431-8DF7-59C1-8442-4A9D8898D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272" y="1130846"/>
            <a:ext cx="5557770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2200" dirty="0" err="1">
                <a:solidFill>
                  <a:schemeClr val="bg1"/>
                </a:solidFill>
              </a:rPr>
              <a:t>Proiectul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propune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dezvoltarea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unui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b="1" dirty="0" err="1">
                <a:solidFill>
                  <a:schemeClr val="bg1"/>
                </a:solidFill>
              </a:rPr>
              <a:t>Sistem</a:t>
            </a:r>
            <a:r>
              <a:rPr lang="en-US" sz="2200" b="1" dirty="0">
                <a:solidFill>
                  <a:schemeClr val="bg1"/>
                </a:solidFill>
              </a:rPr>
              <a:t> cu </a:t>
            </a:r>
            <a:r>
              <a:rPr lang="en-US" sz="2200" b="1" dirty="0" err="1">
                <a:solidFill>
                  <a:schemeClr val="bg1"/>
                </a:solidFill>
              </a:rPr>
              <a:t>Inteligență</a:t>
            </a:r>
            <a:r>
              <a:rPr lang="en-US" sz="2200" b="1" dirty="0">
                <a:solidFill>
                  <a:schemeClr val="bg1"/>
                </a:solidFill>
              </a:rPr>
              <a:t> </a:t>
            </a:r>
            <a:r>
              <a:rPr lang="en-US" sz="2200" b="1" dirty="0" err="1">
                <a:solidFill>
                  <a:schemeClr val="bg1"/>
                </a:solidFill>
              </a:rPr>
              <a:t>Artificială</a:t>
            </a:r>
            <a:r>
              <a:rPr lang="en-US" sz="2200" b="1" dirty="0">
                <a:solidFill>
                  <a:schemeClr val="bg1"/>
                </a:solidFill>
              </a:rPr>
              <a:t> (SIA)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bazat</a:t>
            </a:r>
            <a:r>
              <a:rPr lang="en-US" sz="2200" dirty="0">
                <a:solidFill>
                  <a:schemeClr val="bg1"/>
                </a:solidFill>
              </a:rPr>
              <a:t> pe </a:t>
            </a:r>
            <a:r>
              <a:rPr lang="en-US" sz="2200" b="1" dirty="0" err="1">
                <a:solidFill>
                  <a:schemeClr val="bg1"/>
                </a:solidFill>
              </a:rPr>
              <a:t>rețele</a:t>
            </a:r>
            <a:r>
              <a:rPr lang="en-US" sz="2200" b="1" dirty="0">
                <a:solidFill>
                  <a:schemeClr val="bg1"/>
                </a:solidFill>
              </a:rPr>
              <a:t> </a:t>
            </a:r>
            <a:r>
              <a:rPr lang="en-US" sz="2200" b="1" dirty="0" err="1">
                <a:solidFill>
                  <a:schemeClr val="bg1"/>
                </a:solidFill>
              </a:rPr>
              <a:t>neuronale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capabil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să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b="1" dirty="0" err="1">
                <a:solidFill>
                  <a:schemeClr val="bg1"/>
                </a:solidFill>
              </a:rPr>
              <a:t>interpreteze</a:t>
            </a:r>
            <a:r>
              <a:rPr lang="en-US" sz="2200" b="1" dirty="0">
                <a:solidFill>
                  <a:schemeClr val="bg1"/>
                </a:solidFill>
              </a:rPr>
              <a:t> </a:t>
            </a:r>
            <a:r>
              <a:rPr lang="en-US" sz="2200" b="1" dirty="0" err="1">
                <a:solidFill>
                  <a:schemeClr val="bg1"/>
                </a:solidFill>
              </a:rPr>
              <a:t>comenzi</a:t>
            </a:r>
            <a:r>
              <a:rPr lang="en-US" sz="2200" b="1" dirty="0">
                <a:solidFill>
                  <a:schemeClr val="bg1"/>
                </a:solidFill>
              </a:rPr>
              <a:t> </a:t>
            </a:r>
            <a:r>
              <a:rPr lang="en-US" sz="2200" b="1" dirty="0" err="1">
                <a:solidFill>
                  <a:schemeClr val="bg1"/>
                </a:solidFill>
              </a:rPr>
              <a:t>textuale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și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să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b="1" dirty="0" err="1">
                <a:solidFill>
                  <a:schemeClr val="bg1"/>
                </a:solidFill>
              </a:rPr>
              <a:t>genereze</a:t>
            </a:r>
            <a:r>
              <a:rPr lang="en-US" sz="2200" b="1" dirty="0">
                <a:solidFill>
                  <a:schemeClr val="bg1"/>
                </a:solidFill>
              </a:rPr>
              <a:t> automat </a:t>
            </a:r>
            <a:r>
              <a:rPr lang="en-US" sz="2200" b="1" dirty="0" err="1">
                <a:solidFill>
                  <a:schemeClr val="bg1"/>
                </a:solidFill>
              </a:rPr>
              <a:t>scripturi</a:t>
            </a:r>
            <a:r>
              <a:rPr lang="en-US" sz="2200" b="1" dirty="0">
                <a:solidFill>
                  <a:schemeClr val="bg1"/>
                </a:solidFill>
              </a:rPr>
              <a:t> Python </a:t>
            </a:r>
            <a:r>
              <a:rPr lang="en-US" sz="2200" b="1" dirty="0" err="1">
                <a:solidFill>
                  <a:schemeClr val="bg1"/>
                </a:solidFill>
              </a:rPr>
              <a:t>pentru</a:t>
            </a:r>
            <a:r>
              <a:rPr lang="en-US" sz="2200" b="1" dirty="0">
                <a:solidFill>
                  <a:schemeClr val="bg1"/>
                </a:solidFill>
              </a:rPr>
              <a:t> Blender</a:t>
            </a:r>
            <a:r>
              <a:rPr lang="en-US" sz="2200" dirty="0">
                <a:solidFill>
                  <a:schemeClr val="bg1"/>
                </a:solidFill>
              </a:rPr>
              <a:t>, care la </a:t>
            </a:r>
            <a:r>
              <a:rPr lang="en-US" sz="2200" dirty="0" err="1">
                <a:solidFill>
                  <a:schemeClr val="bg1"/>
                </a:solidFill>
              </a:rPr>
              <a:t>rândul</a:t>
            </a:r>
            <a:r>
              <a:rPr lang="en-US" sz="2200" dirty="0">
                <a:solidFill>
                  <a:schemeClr val="bg1"/>
                </a:solidFill>
              </a:rPr>
              <a:t> lor </a:t>
            </a:r>
            <a:r>
              <a:rPr lang="en-US" sz="2200" dirty="0" err="1">
                <a:solidFill>
                  <a:schemeClr val="bg1"/>
                </a:solidFill>
              </a:rPr>
              <a:t>creează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b="1" dirty="0" err="1">
                <a:solidFill>
                  <a:schemeClr val="bg1"/>
                </a:solidFill>
              </a:rPr>
              <a:t>forme</a:t>
            </a:r>
            <a:r>
              <a:rPr lang="en-US" sz="2200" b="1" dirty="0">
                <a:solidFill>
                  <a:schemeClr val="bg1"/>
                </a:solidFill>
              </a:rPr>
              <a:t> 3D simple</a:t>
            </a:r>
            <a:r>
              <a:rPr lang="en-US" sz="2200" dirty="0">
                <a:solidFill>
                  <a:schemeClr val="bg1"/>
                </a:solidFill>
              </a:rPr>
              <a:t> (ex: </a:t>
            </a:r>
            <a:r>
              <a:rPr lang="en-US" sz="2200" dirty="0" err="1">
                <a:solidFill>
                  <a:schemeClr val="bg1"/>
                </a:solidFill>
              </a:rPr>
              <a:t>cuburi</a:t>
            </a:r>
            <a:r>
              <a:rPr lang="en-US" sz="2200" dirty="0">
                <a:solidFill>
                  <a:schemeClr val="bg1"/>
                </a:solidFill>
              </a:rPr>
              <a:t>, </a:t>
            </a:r>
            <a:r>
              <a:rPr lang="en-US" sz="2200" dirty="0" err="1">
                <a:solidFill>
                  <a:schemeClr val="bg1"/>
                </a:solidFill>
              </a:rPr>
              <a:t>sfere</a:t>
            </a:r>
            <a:r>
              <a:rPr lang="en-US" sz="2200" dirty="0">
                <a:solidFill>
                  <a:schemeClr val="bg1"/>
                </a:solidFill>
              </a:rPr>
              <a:t>, </a:t>
            </a:r>
            <a:r>
              <a:rPr lang="en-US" sz="2200" dirty="0" err="1">
                <a:solidFill>
                  <a:schemeClr val="bg1"/>
                </a:solidFill>
              </a:rPr>
              <a:t>conuri</a:t>
            </a:r>
            <a:r>
              <a:rPr lang="en-US" sz="2200" dirty="0">
                <a:solidFill>
                  <a:schemeClr val="bg1"/>
                </a:solidFill>
              </a:rPr>
              <a:t>, etc.).</a:t>
            </a:r>
            <a:br>
              <a:rPr lang="en-US" sz="2200" dirty="0">
                <a:solidFill>
                  <a:schemeClr val="bg1"/>
                </a:solidFill>
              </a:rPr>
            </a:br>
            <a:endParaRPr lang="en-US" sz="2200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</a:pPr>
            <a:r>
              <a:rPr lang="en-US" sz="2200" dirty="0" err="1">
                <a:solidFill>
                  <a:schemeClr val="bg1"/>
                </a:solidFill>
              </a:rPr>
              <a:t>Scopul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sistemului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este</a:t>
            </a:r>
            <a:r>
              <a:rPr lang="en-US" sz="2200" dirty="0">
                <a:solidFill>
                  <a:schemeClr val="bg1"/>
                </a:solidFill>
              </a:rPr>
              <a:t> de a </a:t>
            </a:r>
            <a:r>
              <a:rPr lang="en-US" sz="2200" dirty="0" err="1">
                <a:solidFill>
                  <a:schemeClr val="bg1"/>
                </a:solidFill>
              </a:rPr>
              <a:t>simplifica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procesul</a:t>
            </a:r>
            <a:r>
              <a:rPr lang="en-US" sz="2200" dirty="0">
                <a:solidFill>
                  <a:schemeClr val="bg1"/>
                </a:solidFill>
              </a:rPr>
              <a:t> de </a:t>
            </a:r>
            <a:r>
              <a:rPr lang="en-US" sz="2200" dirty="0" err="1">
                <a:solidFill>
                  <a:schemeClr val="bg1"/>
                </a:solidFill>
              </a:rPr>
              <a:t>modelare</a:t>
            </a:r>
            <a:r>
              <a:rPr lang="en-US" sz="2200" dirty="0">
                <a:solidFill>
                  <a:schemeClr val="bg1"/>
                </a:solidFill>
              </a:rPr>
              <a:t> 3D, </a:t>
            </a:r>
            <a:r>
              <a:rPr lang="en-US" sz="2200" dirty="0" err="1">
                <a:solidFill>
                  <a:schemeClr val="bg1"/>
                </a:solidFill>
              </a:rPr>
              <a:t>permițând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utilizatorilor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fără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experiență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în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programare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să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creeze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obiecte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vizuale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doar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prin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descrieri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în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limbaj</a:t>
            </a:r>
            <a:r>
              <a:rPr lang="en-US" sz="2200" dirty="0">
                <a:solidFill>
                  <a:schemeClr val="bg1"/>
                </a:solidFill>
              </a:rPr>
              <a:t> natural.</a:t>
            </a: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10867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Graphic 212">
            <a:extLst>
              <a:ext uri="{FF2B5EF4-FFF2-40B4-BE49-F238E27FC236}">
                <a16:creationId xmlns:a16="http://schemas.microsoft.com/office/drawing/2014/main" id="{55C61911-45B2-48BF-AC7A-1EB579B42C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02373" y="798490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2" name="Graphic 212">
            <a:extLst>
              <a:ext uri="{FF2B5EF4-FFF2-40B4-BE49-F238E27FC236}">
                <a16:creationId xmlns:a16="http://schemas.microsoft.com/office/drawing/2014/main" id="{2DE4D4CE-6DAE-4A05-BE5B-6BCE3F4EC7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02373" y="798490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EC771F-E70B-E95F-A5C3-2A2F18D6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7" y="1264801"/>
            <a:ext cx="4114571" cy="4296387"/>
          </a:xfrm>
        </p:spPr>
        <p:txBody>
          <a:bodyPr>
            <a:norm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Domeniul Industrial de Interes (DII):</a:t>
            </a:r>
            <a:br>
              <a:rPr lang="en-US" b="1">
                <a:solidFill>
                  <a:schemeClr val="bg1"/>
                </a:solidFill>
              </a:rPr>
            </a:br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8CB1D39-68D4-4372-BF3B-2A33A7495E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10C23D31-5B0A-4956-A59F-A24F57D2A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988" y="4604761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4C6FC6E-4AAF-4628-B7E5-85DF9D323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988" y="4604761"/>
            <a:ext cx="319941" cy="31994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73B5F-F8CA-0814-643D-D2A20B090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345827"/>
            <a:ext cx="5217173" cy="4351338"/>
          </a:xfrm>
        </p:spPr>
        <p:txBody>
          <a:bodyPr>
            <a:normAutofit/>
          </a:bodyPr>
          <a:lstStyle/>
          <a:p>
            <a:r>
              <a:rPr lang="en-US" sz="2200" b="1" dirty="0">
                <a:solidFill>
                  <a:schemeClr val="bg1"/>
                </a:solidFill>
              </a:rPr>
              <a:t>Industria </a:t>
            </a:r>
            <a:r>
              <a:rPr lang="en-US" sz="2200" b="1" dirty="0" err="1">
                <a:solidFill>
                  <a:schemeClr val="bg1"/>
                </a:solidFill>
              </a:rPr>
              <a:t>vizată</a:t>
            </a:r>
            <a:r>
              <a:rPr lang="en-US" sz="2200" b="1" dirty="0">
                <a:solidFill>
                  <a:schemeClr val="bg1"/>
                </a:solidFill>
              </a:rPr>
              <a:t>: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Producție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și</a:t>
            </a:r>
            <a:r>
              <a:rPr lang="en-US" sz="2200" dirty="0">
                <a:solidFill>
                  <a:schemeClr val="bg1"/>
                </a:solidFill>
              </a:rPr>
              <a:t> Design </a:t>
            </a:r>
            <a:r>
              <a:rPr lang="en-US" sz="2200" dirty="0" err="1">
                <a:solidFill>
                  <a:schemeClr val="bg1"/>
                </a:solidFill>
              </a:rPr>
              <a:t>Asistat</a:t>
            </a:r>
            <a:r>
              <a:rPr lang="en-US" sz="2200" dirty="0">
                <a:solidFill>
                  <a:schemeClr val="bg1"/>
                </a:solidFill>
              </a:rPr>
              <a:t> de Calculator (CAD), cu </a:t>
            </a:r>
            <a:r>
              <a:rPr lang="en-US" sz="2200" dirty="0" err="1">
                <a:solidFill>
                  <a:schemeClr val="bg1"/>
                </a:solidFill>
              </a:rPr>
              <a:t>aplicații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în</a:t>
            </a:r>
            <a:r>
              <a:rPr lang="en-US" sz="2200" dirty="0">
                <a:solidFill>
                  <a:schemeClr val="bg1"/>
                </a:solidFill>
              </a:rPr>
              <a:t>:</a:t>
            </a:r>
          </a:p>
          <a:p>
            <a:r>
              <a:rPr lang="en-US" sz="2200" dirty="0" err="1">
                <a:solidFill>
                  <a:schemeClr val="bg1"/>
                </a:solidFill>
              </a:rPr>
              <a:t>prototipare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rapidă</a:t>
            </a:r>
            <a:r>
              <a:rPr lang="en-US" sz="2200" dirty="0">
                <a:solidFill>
                  <a:schemeClr val="bg1"/>
                </a:solidFill>
              </a:rPr>
              <a:t>,</a:t>
            </a:r>
          </a:p>
          <a:p>
            <a:r>
              <a:rPr lang="en-US" sz="2200" dirty="0" err="1">
                <a:solidFill>
                  <a:schemeClr val="bg1"/>
                </a:solidFill>
              </a:rPr>
              <a:t>robotică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și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simulare</a:t>
            </a:r>
            <a:r>
              <a:rPr lang="en-US" sz="2200" dirty="0">
                <a:solidFill>
                  <a:schemeClr val="bg1"/>
                </a:solidFill>
              </a:rPr>
              <a:t>,</a:t>
            </a:r>
          </a:p>
          <a:p>
            <a:r>
              <a:rPr lang="en-US" sz="2200" dirty="0" err="1">
                <a:solidFill>
                  <a:schemeClr val="bg1"/>
                </a:solidFill>
              </a:rPr>
              <a:t>educație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tehnică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și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formare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profesională</a:t>
            </a:r>
            <a:r>
              <a:rPr lang="en-US" sz="2200" dirty="0">
                <a:solidFill>
                  <a:schemeClr val="bg1"/>
                </a:solidFill>
              </a:rPr>
              <a:t>.</a:t>
            </a:r>
          </a:p>
          <a:p>
            <a:r>
              <a:rPr lang="en-US" sz="2200" i="1" dirty="0" err="1">
                <a:solidFill>
                  <a:schemeClr val="bg1"/>
                </a:solidFill>
              </a:rPr>
              <a:t>Studiu</a:t>
            </a:r>
            <a:r>
              <a:rPr lang="en-US" sz="2200" i="1" dirty="0">
                <a:solidFill>
                  <a:schemeClr val="bg1"/>
                </a:solidFill>
              </a:rPr>
              <a:t> de </a:t>
            </a:r>
            <a:r>
              <a:rPr lang="en-US" sz="2200" i="1" dirty="0" err="1">
                <a:solidFill>
                  <a:schemeClr val="bg1"/>
                </a:solidFill>
              </a:rPr>
              <a:t>caz</a:t>
            </a:r>
            <a:r>
              <a:rPr lang="en-US" sz="2200" dirty="0">
                <a:solidFill>
                  <a:schemeClr val="bg1"/>
                </a:solidFill>
              </a:rPr>
              <a:t>: </a:t>
            </a:r>
            <a:r>
              <a:rPr lang="en-US" sz="2200" dirty="0" err="1">
                <a:solidFill>
                  <a:schemeClr val="bg1"/>
                </a:solidFill>
              </a:rPr>
              <a:t>Utilizarea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unui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sistem</a:t>
            </a:r>
            <a:r>
              <a:rPr lang="en-US" sz="2200" dirty="0">
                <a:solidFill>
                  <a:schemeClr val="bg1"/>
                </a:solidFill>
              </a:rPr>
              <a:t> AI </a:t>
            </a:r>
            <a:r>
              <a:rPr lang="en-US" sz="2200" dirty="0" err="1">
                <a:solidFill>
                  <a:schemeClr val="bg1"/>
                </a:solidFill>
              </a:rPr>
              <a:t>pentru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generarea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automată</a:t>
            </a:r>
            <a:r>
              <a:rPr lang="en-US" sz="2200" dirty="0">
                <a:solidFill>
                  <a:schemeClr val="bg1"/>
                </a:solidFill>
              </a:rPr>
              <a:t> de </a:t>
            </a:r>
            <a:r>
              <a:rPr lang="en-US" sz="2200" dirty="0" err="1">
                <a:solidFill>
                  <a:schemeClr val="bg1"/>
                </a:solidFill>
              </a:rPr>
              <a:t>modele</a:t>
            </a:r>
            <a:r>
              <a:rPr lang="en-US" sz="2200" dirty="0">
                <a:solidFill>
                  <a:schemeClr val="bg1"/>
                </a:solidFill>
              </a:rPr>
              <a:t> 3D </a:t>
            </a:r>
            <a:r>
              <a:rPr lang="en-US" sz="2200" dirty="0" err="1">
                <a:solidFill>
                  <a:schemeClr val="bg1"/>
                </a:solidFill>
              </a:rPr>
              <a:t>în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mediile</a:t>
            </a:r>
            <a:r>
              <a:rPr lang="en-US" sz="2200" dirty="0">
                <a:solidFill>
                  <a:schemeClr val="bg1"/>
                </a:solidFill>
              </a:rPr>
              <a:t> de </a:t>
            </a:r>
            <a:r>
              <a:rPr lang="en-US" sz="2200" dirty="0" err="1">
                <a:solidFill>
                  <a:schemeClr val="bg1"/>
                </a:solidFill>
              </a:rPr>
              <a:t>proiectare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industrială</a:t>
            </a:r>
            <a:r>
              <a:rPr lang="en-US" sz="2200" dirty="0">
                <a:solidFill>
                  <a:schemeClr val="bg1"/>
                </a:solidFill>
              </a:rPr>
              <a:t> (ex. </a:t>
            </a:r>
            <a:r>
              <a:rPr lang="en-US" sz="2200" dirty="0" err="1">
                <a:solidFill>
                  <a:schemeClr val="bg1"/>
                </a:solidFill>
              </a:rPr>
              <a:t>departamente</a:t>
            </a:r>
            <a:r>
              <a:rPr lang="en-US" sz="2200" dirty="0">
                <a:solidFill>
                  <a:schemeClr val="bg1"/>
                </a:solidFill>
              </a:rPr>
              <a:t> de design de </a:t>
            </a:r>
            <a:r>
              <a:rPr lang="en-US" sz="2200" dirty="0" err="1">
                <a:solidFill>
                  <a:schemeClr val="bg1"/>
                </a:solidFill>
              </a:rPr>
              <a:t>produs</a:t>
            </a:r>
            <a:r>
              <a:rPr lang="en-US" sz="2200" dirty="0">
                <a:solidFill>
                  <a:schemeClr val="bg1"/>
                </a:solidFill>
              </a:rPr>
              <a:t>, </a:t>
            </a:r>
            <a:r>
              <a:rPr lang="en-US" sz="2200" dirty="0" err="1">
                <a:solidFill>
                  <a:schemeClr val="bg1"/>
                </a:solidFill>
              </a:rPr>
              <a:t>fabricație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aditivă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sau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robotică</a:t>
            </a:r>
            <a:r>
              <a:rPr lang="en-US" sz="2200" dirty="0">
                <a:solidFill>
                  <a:schemeClr val="bg1"/>
                </a:solidFill>
              </a:rPr>
              <a:t>).</a:t>
            </a:r>
          </a:p>
          <a:p>
            <a:endParaRPr lang="en-US" sz="2200" dirty="0">
              <a:solidFill>
                <a:schemeClr val="bg1"/>
              </a:solidFill>
            </a:endParaRPr>
          </a:p>
        </p:txBody>
      </p:sp>
      <p:grpSp>
        <p:nvGrpSpPr>
          <p:cNvPr id="22" name="Graphic 185">
            <a:extLst>
              <a:ext uri="{FF2B5EF4-FFF2-40B4-BE49-F238E27FC236}">
                <a16:creationId xmlns:a16="http://schemas.microsoft.com/office/drawing/2014/main" id="{582A903B-6B78-4F0A-B7C9-3D8049902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510EA93-8F64-42C8-A630-D449506E9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6CB53FC-E4DA-4001-928B-9998A85EA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210B969-4FDF-4AAC-9397-63D5434958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70B3EF0-84EA-4F47-86A3-1EA1F644A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9369A8-EF57-42A1-8EC8-F6A9F92A3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0635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Graphic 212">
            <a:extLst>
              <a:ext uri="{FF2B5EF4-FFF2-40B4-BE49-F238E27FC236}">
                <a16:creationId xmlns:a16="http://schemas.microsoft.com/office/drawing/2014/main" id="{55C61911-45B2-48BF-AC7A-1EB579B42C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02373" y="798490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2" name="Graphic 212">
            <a:extLst>
              <a:ext uri="{FF2B5EF4-FFF2-40B4-BE49-F238E27FC236}">
                <a16:creationId xmlns:a16="http://schemas.microsoft.com/office/drawing/2014/main" id="{2DE4D4CE-6DAE-4A05-BE5B-6BCE3F4EC7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02373" y="798490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6B3261-A6BD-D415-2A65-C82130895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958" y="2160959"/>
            <a:ext cx="4114571" cy="2613546"/>
          </a:xfrm>
        </p:spPr>
        <p:txBody>
          <a:bodyPr>
            <a:normAutofit/>
          </a:bodyPr>
          <a:lstStyle/>
          <a:p>
            <a:pPr algn="ctr"/>
            <a:r>
              <a:rPr lang="en-US" b="1" dirty="0" err="1">
                <a:solidFill>
                  <a:schemeClr val="bg1"/>
                </a:solidFill>
              </a:rPr>
              <a:t>Stadiul</a:t>
            </a:r>
            <a:r>
              <a:rPr lang="en-US" b="1" dirty="0">
                <a:solidFill>
                  <a:schemeClr val="bg1"/>
                </a:solidFill>
              </a:rPr>
              <a:t> actual al </a:t>
            </a:r>
            <a:r>
              <a:rPr lang="en-US" b="1" dirty="0" err="1">
                <a:solidFill>
                  <a:schemeClr val="bg1"/>
                </a:solidFill>
              </a:rPr>
              <a:t>domeniului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8CB1D39-68D4-4372-BF3B-2A33A7495E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10C23D31-5B0A-4956-A59F-A24F57D2A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988" y="4604761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4C6FC6E-4AAF-4628-B7E5-85DF9D323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988" y="4604761"/>
            <a:ext cx="319941" cy="31994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7FAAB-4C8D-6FA2-2EB0-7A69DC561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3099" y="516782"/>
            <a:ext cx="6848901" cy="570957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200" dirty="0" err="1">
                <a:solidFill>
                  <a:schemeClr val="bg1"/>
                </a:solidFill>
              </a:rPr>
              <a:t>În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prezent</a:t>
            </a:r>
            <a:r>
              <a:rPr lang="en-US" sz="2200" dirty="0">
                <a:solidFill>
                  <a:schemeClr val="bg1"/>
                </a:solidFill>
              </a:rPr>
              <a:t>, </a:t>
            </a:r>
            <a:r>
              <a:rPr lang="en-US" sz="2200" dirty="0" err="1">
                <a:solidFill>
                  <a:schemeClr val="bg1"/>
                </a:solidFill>
              </a:rPr>
              <a:t>proiectarea</a:t>
            </a:r>
            <a:r>
              <a:rPr lang="en-US" sz="2200" dirty="0">
                <a:solidFill>
                  <a:schemeClr val="bg1"/>
                </a:solidFill>
              </a:rPr>
              <a:t> 3D </a:t>
            </a:r>
            <a:r>
              <a:rPr lang="en-US" sz="2200" dirty="0" err="1">
                <a:solidFill>
                  <a:schemeClr val="bg1"/>
                </a:solidFill>
              </a:rPr>
              <a:t>necesită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cunoștințe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avansate</a:t>
            </a:r>
            <a:r>
              <a:rPr lang="en-US" sz="2200" dirty="0">
                <a:solidFill>
                  <a:schemeClr val="bg1"/>
                </a:solidFill>
              </a:rPr>
              <a:t> de </a:t>
            </a:r>
            <a:r>
              <a:rPr lang="en-US" sz="2200" dirty="0" err="1">
                <a:solidFill>
                  <a:schemeClr val="bg1"/>
                </a:solidFill>
              </a:rPr>
              <a:t>modelare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și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programare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în</a:t>
            </a:r>
            <a:r>
              <a:rPr lang="en-US" sz="2200" dirty="0">
                <a:solidFill>
                  <a:schemeClr val="bg1"/>
                </a:solidFill>
              </a:rPr>
              <a:t> software-</a:t>
            </a:r>
            <a:r>
              <a:rPr lang="en-US" sz="2200" dirty="0" err="1">
                <a:solidFill>
                  <a:schemeClr val="bg1"/>
                </a:solidFill>
              </a:rPr>
              <a:t>uri</a:t>
            </a:r>
            <a:r>
              <a:rPr lang="en-US" sz="2200" dirty="0">
                <a:solidFill>
                  <a:schemeClr val="bg1"/>
                </a:solidFill>
              </a:rPr>
              <a:t> precum Blender, AutoCAD </a:t>
            </a:r>
            <a:r>
              <a:rPr lang="en-US" sz="2200" dirty="0" err="1">
                <a:solidFill>
                  <a:schemeClr val="bg1"/>
                </a:solidFill>
              </a:rPr>
              <a:t>sau</a:t>
            </a:r>
            <a:r>
              <a:rPr lang="en-US" sz="2200" dirty="0">
                <a:solidFill>
                  <a:schemeClr val="bg1"/>
                </a:solidFill>
              </a:rPr>
              <a:t> SolidWorks.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 err="1">
                <a:solidFill>
                  <a:schemeClr val="bg1"/>
                </a:solidFill>
              </a:rPr>
              <a:t>Tendința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actuală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este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b="1" dirty="0" err="1">
                <a:solidFill>
                  <a:schemeClr val="bg1"/>
                </a:solidFill>
              </a:rPr>
              <a:t>automatizarea</a:t>
            </a:r>
            <a:r>
              <a:rPr lang="en-US" sz="2200" b="1" dirty="0">
                <a:solidFill>
                  <a:schemeClr val="bg1"/>
                </a:solidFill>
              </a:rPr>
              <a:t> </a:t>
            </a:r>
            <a:r>
              <a:rPr lang="en-US" sz="2200" b="1" dirty="0" err="1">
                <a:solidFill>
                  <a:schemeClr val="bg1"/>
                </a:solidFill>
              </a:rPr>
              <a:t>designului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prin</a:t>
            </a:r>
            <a:r>
              <a:rPr lang="en-US" sz="2200" dirty="0">
                <a:solidFill>
                  <a:schemeClr val="bg1"/>
                </a:solidFill>
              </a:rPr>
              <a:t>:</a:t>
            </a:r>
          </a:p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chemeClr val="bg1"/>
                </a:solidFill>
              </a:rPr>
              <a:t>Generative Design</a:t>
            </a:r>
            <a:r>
              <a:rPr lang="en-US" sz="2200" dirty="0">
                <a:solidFill>
                  <a:schemeClr val="bg1"/>
                </a:solidFill>
              </a:rPr>
              <a:t> (ex: Autodesk generative design);</a:t>
            </a:r>
          </a:p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chemeClr val="bg1"/>
                </a:solidFill>
              </a:rPr>
              <a:t>AI-driven CAD systems</a:t>
            </a:r>
            <a:r>
              <a:rPr lang="en-US" sz="2200" dirty="0">
                <a:solidFill>
                  <a:schemeClr val="bg1"/>
                </a:solidFill>
              </a:rPr>
              <a:t> (</a:t>
            </a:r>
            <a:r>
              <a:rPr lang="en-US" sz="2200" dirty="0" err="1">
                <a:solidFill>
                  <a:schemeClr val="bg1"/>
                </a:solidFill>
              </a:rPr>
              <a:t>folosesc</a:t>
            </a:r>
            <a:r>
              <a:rPr lang="en-US" sz="2200" dirty="0">
                <a:solidFill>
                  <a:schemeClr val="bg1"/>
                </a:solidFill>
              </a:rPr>
              <a:t> machine learning </a:t>
            </a:r>
            <a:r>
              <a:rPr lang="en-US" sz="2200" dirty="0" err="1">
                <a:solidFill>
                  <a:schemeClr val="bg1"/>
                </a:solidFill>
              </a:rPr>
              <a:t>pentru</a:t>
            </a:r>
            <a:r>
              <a:rPr lang="en-US" sz="2200" dirty="0">
                <a:solidFill>
                  <a:schemeClr val="bg1"/>
                </a:solidFill>
              </a:rPr>
              <a:t> a genera </a:t>
            </a:r>
            <a:r>
              <a:rPr lang="en-US" sz="2200" dirty="0" err="1">
                <a:solidFill>
                  <a:schemeClr val="bg1"/>
                </a:solidFill>
              </a:rPr>
              <a:t>modele</a:t>
            </a:r>
            <a:r>
              <a:rPr lang="en-US" sz="2200" dirty="0">
                <a:solidFill>
                  <a:schemeClr val="bg1"/>
                </a:solidFill>
              </a:rPr>
              <a:t>);</a:t>
            </a:r>
          </a:p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chemeClr val="bg1"/>
                </a:solidFill>
              </a:rPr>
              <a:t>Text-to-3D models</a:t>
            </a:r>
            <a:r>
              <a:rPr lang="en-US" sz="2200" dirty="0">
                <a:solidFill>
                  <a:schemeClr val="bg1"/>
                </a:solidFill>
              </a:rPr>
              <a:t> (</a:t>
            </a:r>
            <a:r>
              <a:rPr lang="en-US" sz="2200" dirty="0" err="1">
                <a:solidFill>
                  <a:schemeClr val="bg1"/>
                </a:solidFill>
              </a:rPr>
              <a:t>proiecte</a:t>
            </a:r>
            <a:r>
              <a:rPr lang="en-US" sz="2200" dirty="0">
                <a:solidFill>
                  <a:schemeClr val="bg1"/>
                </a:solidFill>
              </a:rPr>
              <a:t> open-source </a:t>
            </a:r>
            <a:r>
              <a:rPr lang="en-US" sz="2200" dirty="0" err="1">
                <a:solidFill>
                  <a:schemeClr val="bg1"/>
                </a:solidFill>
              </a:rPr>
              <a:t>și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cercetări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recente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folosind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rețele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neuronale</a:t>
            </a:r>
            <a:r>
              <a:rPr lang="en-US" sz="2200" dirty="0">
                <a:solidFill>
                  <a:schemeClr val="bg1"/>
                </a:solidFill>
              </a:rPr>
              <a:t> transformer).</a:t>
            </a:r>
          </a:p>
          <a:p>
            <a:pPr>
              <a:lnSpc>
                <a:spcPct val="100000"/>
              </a:lnSpc>
            </a:pPr>
            <a:r>
              <a:rPr lang="en-US" sz="2200" dirty="0" err="1">
                <a:solidFill>
                  <a:schemeClr val="bg1"/>
                </a:solidFill>
              </a:rPr>
              <a:t>Limitarea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actuală</a:t>
            </a:r>
            <a:r>
              <a:rPr lang="en-US" sz="2200" dirty="0">
                <a:solidFill>
                  <a:schemeClr val="bg1"/>
                </a:solidFill>
              </a:rPr>
              <a:t>: </a:t>
            </a:r>
            <a:r>
              <a:rPr lang="en-US" sz="2200" dirty="0" err="1">
                <a:solidFill>
                  <a:schemeClr val="bg1"/>
                </a:solidFill>
              </a:rPr>
              <a:t>majoritatea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sistemelor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comerciale</a:t>
            </a:r>
            <a:r>
              <a:rPr lang="en-US" sz="2200" dirty="0">
                <a:solidFill>
                  <a:schemeClr val="bg1"/>
                </a:solidFill>
              </a:rPr>
              <a:t> nu permit o </a:t>
            </a:r>
            <a:r>
              <a:rPr lang="en-US" sz="2200" b="1" dirty="0" err="1">
                <a:solidFill>
                  <a:schemeClr val="bg1"/>
                </a:solidFill>
              </a:rPr>
              <a:t>interfață</a:t>
            </a:r>
            <a:r>
              <a:rPr lang="en-US" sz="2200" b="1" dirty="0">
                <a:solidFill>
                  <a:schemeClr val="bg1"/>
                </a:solidFill>
              </a:rPr>
              <a:t> </a:t>
            </a:r>
            <a:r>
              <a:rPr lang="en-US" sz="2200" b="1" dirty="0" err="1">
                <a:solidFill>
                  <a:schemeClr val="bg1"/>
                </a:solidFill>
              </a:rPr>
              <a:t>directă</a:t>
            </a:r>
            <a:r>
              <a:rPr lang="en-US" sz="2200" b="1" dirty="0">
                <a:solidFill>
                  <a:schemeClr val="bg1"/>
                </a:solidFill>
              </a:rPr>
              <a:t> text → cod → </a:t>
            </a:r>
            <a:r>
              <a:rPr lang="en-US" sz="2200" b="1" dirty="0" err="1">
                <a:solidFill>
                  <a:schemeClr val="bg1"/>
                </a:solidFill>
              </a:rPr>
              <a:t>formă</a:t>
            </a:r>
            <a:r>
              <a:rPr lang="en-US" sz="2200" b="1" dirty="0">
                <a:solidFill>
                  <a:schemeClr val="bg1"/>
                </a:solidFill>
              </a:rPr>
              <a:t> 3D</a:t>
            </a:r>
            <a:r>
              <a:rPr lang="en-US" sz="2200" dirty="0">
                <a:solidFill>
                  <a:schemeClr val="bg1"/>
                </a:solidFill>
              </a:rPr>
              <a:t>, ci </a:t>
            </a:r>
            <a:r>
              <a:rPr lang="en-US" sz="2200" dirty="0" err="1">
                <a:solidFill>
                  <a:schemeClr val="bg1"/>
                </a:solidFill>
              </a:rPr>
              <a:t>necesită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intervenție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umană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semnificativă</a:t>
            </a:r>
            <a:r>
              <a:rPr lang="en-US" sz="2200" dirty="0">
                <a:solidFill>
                  <a:schemeClr val="bg1"/>
                </a:solidFill>
              </a:rPr>
              <a:t>.</a:t>
            </a:r>
          </a:p>
          <a:p>
            <a:endParaRPr lang="en-US" sz="2200" dirty="0">
              <a:solidFill>
                <a:schemeClr val="bg1"/>
              </a:solidFill>
            </a:endParaRPr>
          </a:p>
        </p:txBody>
      </p:sp>
      <p:grpSp>
        <p:nvGrpSpPr>
          <p:cNvPr id="22" name="Graphic 185">
            <a:extLst>
              <a:ext uri="{FF2B5EF4-FFF2-40B4-BE49-F238E27FC236}">
                <a16:creationId xmlns:a16="http://schemas.microsoft.com/office/drawing/2014/main" id="{582A903B-6B78-4F0A-B7C9-3D8049902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510EA93-8F64-42C8-A630-D449506E9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6CB53FC-E4DA-4001-928B-9998A85EA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210B969-4FDF-4AAC-9397-63D5434958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70B3EF0-84EA-4F47-86A3-1EA1F644A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9369A8-EF57-42A1-8EC8-F6A9F92A3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14139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EBFCD5-5356-4326-8D39-8235A46CD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0809" y="1187311"/>
            <a:ext cx="5089552" cy="4483379"/>
          </a:xfrm>
          <a:prstGeom prst="rect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814848-248A-47DD-88E0-95099D951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301" y="1178924"/>
            <a:ext cx="5089552" cy="4483379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18BDA89-0D2C-4C4E-99F6-D7A220FE4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787" y="1130846"/>
            <a:ext cx="5039475" cy="4439266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aphic 38">
            <a:extLst>
              <a:ext uri="{FF2B5EF4-FFF2-40B4-BE49-F238E27FC236}">
                <a16:creationId xmlns:a16="http://schemas.microsoft.com/office/drawing/2014/main" id="{6B67BE95-96EF-433C-9F29-B0732AA6B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3040" y="1424181"/>
            <a:ext cx="1355538" cy="503582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D324976-1596-4B76-A61C-5626816B24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44DEF24-FB22-48A2-8257-B97AD7E1A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3" name="Graphic 212">
            <a:extLst>
              <a:ext uri="{FF2B5EF4-FFF2-40B4-BE49-F238E27FC236}">
                <a16:creationId xmlns:a16="http://schemas.microsoft.com/office/drawing/2014/main" id="{7CE98B01-ED41-482F-AFA1-19C7FA7C0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502" y="629793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5" name="Graphic 212">
            <a:extLst>
              <a:ext uri="{FF2B5EF4-FFF2-40B4-BE49-F238E27FC236}">
                <a16:creationId xmlns:a16="http://schemas.microsoft.com/office/drawing/2014/main" id="{B9CABDD0-8DF6-4974-A224-9A2A81778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502" y="629793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7" name="Graphic 4">
            <a:extLst>
              <a:ext uri="{FF2B5EF4-FFF2-40B4-BE49-F238E27FC236}">
                <a16:creationId xmlns:a16="http://schemas.microsoft.com/office/drawing/2014/main" id="{D6E8B984-55B9-4A62-A043-997D00F0A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32680" y="5188771"/>
            <a:ext cx="1076787" cy="1076789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4FAF4A8-82EB-4F6F-B601-43EBF0BD12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6F2473F-E069-4558-9B41-E285BBE030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C9A4A76-2C9F-486C-9663-6A30A022DE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8431DC7-D4CB-479A-AFA4-5B0C597A2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0755DA1-6F28-4612-A4A7-B915468C6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616ED79-5475-49E6-A5FE-8D9DB12FB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1DCEB47-7140-4682-8DBF-7667BE28F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EA931BD3-5A56-42F2-B6B5-647B28D1C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20E4C8E-4190-498D-9556-6DA668A81F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4B2F30F-0B57-4D60-A087-CD6A471F68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FC5E8C73-ED41-4214-AEE6-3C5F493846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1F94534-FE3E-476C-870B-E714E4A66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DE6C1B0-4D58-4937-B2B7-B1207CA18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972E8ED-CD95-5BEB-7C84-BBAC5D605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1619"/>
            <a:ext cx="4905401" cy="4042196"/>
          </a:xfrm>
        </p:spPr>
        <p:txBody>
          <a:bodyPr>
            <a:normAutofit/>
          </a:bodyPr>
          <a:lstStyle/>
          <a:p>
            <a:pPr lvl="0" algn="ctr" eaLnBrk="0" fontAlgn="base" hangingPunct="0">
              <a:spcAft>
                <a:spcPct val="0"/>
              </a:spcAft>
            </a:pPr>
            <a:r>
              <a:rPr lang="it-IT" b="1">
                <a:solidFill>
                  <a:schemeClr val="bg1"/>
                </a:solidFill>
              </a:rPr>
              <a:t>Nevoi identificate / ce poate îmbunătăți AI-ul</a:t>
            </a:r>
            <a:endParaRPr kumimoji="0" lang="en-US" altLang="en-US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4959BBE-8F6F-3B61-5228-65D67A99B3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30816" y="1130846"/>
            <a:ext cx="5392472" cy="363158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Reducerea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timpului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creare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modelelor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3D;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Democratizarea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accesului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la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instrumente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CAD/3D;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Automatizarea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procesului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prototipare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rapidă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;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Învățare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asistată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prin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vizualizare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generată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automat (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educație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inginerească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226633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1F77B6A-7F53-4B28-B73D-C8CC899AB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881536-F44E-EFB8-D755-DF1184BAA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6578" y="685680"/>
            <a:ext cx="4203323" cy="3596201"/>
          </a:xfrm>
          <a:noFill/>
          <a:ln>
            <a:noFill/>
          </a:ln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Beneficii</a:t>
            </a:r>
            <a:r>
              <a:rPr lang="en-US" sz="5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măsurabile</a:t>
            </a:r>
            <a:br>
              <a:rPr lang="en-US" sz="5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endParaRPr lang="en-US" sz="5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515629F-0D83-4A44-A125-CD50FC660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013" y="1361348"/>
            <a:ext cx="4833902" cy="4258176"/>
            <a:chOff x="1674895" y="1345036"/>
            <a:chExt cx="5428610" cy="421093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1A5080B-EAC4-4530-815C-DE8DACA09D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4667345-04B5-4757-9CE0-969DC1DE5E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6E412EF-CF39-4C25-85B0-DB30B1B0A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80033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8DA6235-17F2-4C9E-88C6-C5D38D8D3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768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55DEF71-1741-4489-8E77-46FC5BAA6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69494" y="1220741"/>
            <a:ext cx="4833901" cy="4258176"/>
          </a:xfrm>
          <a:prstGeom prst="rect">
            <a:avLst/>
          </a:prstGeom>
          <a:solidFill>
            <a:schemeClr val="tx1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2347B6D-A7CC-48EB-861F-917D0D61E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69494" y="1220741"/>
            <a:ext cx="4833901" cy="4258176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7A0A46D-CC9B-4E32-870A-7BC2DF9401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7284" y="4357092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178722E-1BD0-427E-BAAE-4F206DAB5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7284" y="4357092"/>
            <a:ext cx="319941" cy="31994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Graphic 212">
            <a:extLst>
              <a:ext uri="{FF2B5EF4-FFF2-40B4-BE49-F238E27FC236}">
                <a16:creationId xmlns:a16="http://schemas.microsoft.com/office/drawing/2014/main" id="{A753B935-E3DD-466D-BFAC-68E0BE02D0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1971" y="858936"/>
            <a:ext cx="693403" cy="693403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9" name="Graphic 212">
            <a:extLst>
              <a:ext uri="{FF2B5EF4-FFF2-40B4-BE49-F238E27FC236}">
                <a16:creationId xmlns:a16="http://schemas.microsoft.com/office/drawing/2014/main" id="{FB034F26-4148-4B59-B493-14D7A9A8B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1971" y="858936"/>
            <a:ext cx="693403" cy="693403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31" name="Graphic 185">
            <a:extLst>
              <a:ext uri="{FF2B5EF4-FFF2-40B4-BE49-F238E27FC236}">
                <a16:creationId xmlns:a16="http://schemas.microsoft.com/office/drawing/2014/main" id="{5E6BB5FD-DB7B-4BE3-BA45-1EF042115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929FF76-4B3A-4294-BE6E-B507B22D1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253C18A4-10CC-4E91-A8A2-D5368972A1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356AC2F-73E0-44FD-B346-A209D274D3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95A85581-9712-414C-82D4-2FE96ACB2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B0828F2-35E7-4424-8082-6C258B676E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14536BC-86A0-3DDB-61D5-D3503C81FD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4502296"/>
              </p:ext>
            </p:extLst>
          </p:nvPr>
        </p:nvGraphicFramePr>
        <p:xfrm>
          <a:off x="1369494" y="1220741"/>
          <a:ext cx="4833902" cy="4258179"/>
        </p:xfrm>
        <a:graphic>
          <a:graphicData uri="http://schemas.openxmlformats.org/drawingml/2006/table">
            <a:tbl>
              <a:tblPr/>
              <a:tblGrid>
                <a:gridCol w="1361493">
                  <a:extLst>
                    <a:ext uri="{9D8B030D-6E8A-4147-A177-3AD203B41FA5}">
                      <a16:colId xmlns:a16="http://schemas.microsoft.com/office/drawing/2014/main" val="4255332208"/>
                    </a:ext>
                  </a:extLst>
                </a:gridCol>
                <a:gridCol w="1106290">
                  <a:extLst>
                    <a:ext uri="{9D8B030D-6E8A-4147-A177-3AD203B41FA5}">
                      <a16:colId xmlns:a16="http://schemas.microsoft.com/office/drawing/2014/main" val="2129268151"/>
                    </a:ext>
                  </a:extLst>
                </a:gridCol>
                <a:gridCol w="1038861">
                  <a:extLst>
                    <a:ext uri="{9D8B030D-6E8A-4147-A177-3AD203B41FA5}">
                      <a16:colId xmlns:a16="http://schemas.microsoft.com/office/drawing/2014/main" val="1626693943"/>
                    </a:ext>
                  </a:extLst>
                </a:gridCol>
                <a:gridCol w="1327258">
                  <a:extLst>
                    <a:ext uri="{9D8B030D-6E8A-4147-A177-3AD203B41FA5}">
                      <a16:colId xmlns:a16="http://schemas.microsoft.com/office/drawing/2014/main" val="349049251"/>
                    </a:ext>
                  </a:extLst>
                </a:gridCol>
              </a:tblGrid>
              <a:tr h="7275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Indicator</a:t>
                      </a:r>
                    </a:p>
                  </a:txBody>
                  <a:tcPr marL="51583" marR="51583" marT="25791" marB="25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Fără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 SIA</a:t>
                      </a:r>
                    </a:p>
                  </a:txBody>
                  <a:tcPr marL="51583" marR="51583" marT="25791" marB="25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Cu SIA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propus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51583" marR="51583" marT="25791" marB="25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Îmbunătățire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51583" marR="51583" marT="25791" marB="25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3621682"/>
                  </a:ext>
                </a:extLst>
              </a:tr>
              <a:tr h="10377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Timp mediu creare formă simplă</a:t>
                      </a:r>
                    </a:p>
                  </a:txBody>
                  <a:tcPr marL="51583" marR="51583" marT="25791" marB="25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10-15 min</a:t>
                      </a:r>
                    </a:p>
                  </a:txBody>
                  <a:tcPr marL="51583" marR="51583" marT="25791" marB="25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&lt; 1 min</a:t>
                      </a:r>
                    </a:p>
                  </a:txBody>
                  <a:tcPr marL="51583" marR="51583" marT="25791" marB="25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-90%</a:t>
                      </a:r>
                    </a:p>
                  </a:txBody>
                  <a:tcPr marL="51583" marR="51583" marT="25791" marB="25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0274223"/>
                  </a:ext>
                </a:extLst>
              </a:tr>
              <a:tr h="10377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Grad de accesibilitate</a:t>
                      </a:r>
                    </a:p>
                  </a:txBody>
                  <a:tcPr marL="51583" marR="51583" marT="25791" marB="25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Doar utilizatori tehnici</a:t>
                      </a:r>
                    </a:p>
                  </a:txBody>
                  <a:tcPr marL="51583" marR="51583" marT="25791" marB="25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Orice utilizator</a:t>
                      </a:r>
                    </a:p>
                  </a:txBody>
                  <a:tcPr marL="51583" marR="51583" marT="25791" marB="25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+200%</a:t>
                      </a:r>
                    </a:p>
                  </a:txBody>
                  <a:tcPr marL="51583" marR="51583" marT="25791" marB="25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8728"/>
                  </a:ext>
                </a:extLst>
              </a:tr>
              <a:tr h="7275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Erori de modelare</a:t>
                      </a:r>
                    </a:p>
                  </a:txBody>
                  <a:tcPr marL="51583" marR="51583" marT="25791" marB="25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frecvente</a:t>
                      </a:r>
                    </a:p>
                  </a:txBody>
                  <a:tcPr marL="51583" marR="51583" marT="25791" marB="25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automat corectate</a:t>
                      </a:r>
                    </a:p>
                  </a:txBody>
                  <a:tcPr marL="51583" marR="51583" marT="25791" marB="25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-70%</a:t>
                      </a:r>
                    </a:p>
                  </a:txBody>
                  <a:tcPr marL="51583" marR="51583" marT="25791" marB="25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9001695"/>
                  </a:ext>
                </a:extLst>
              </a:tr>
              <a:tr h="7275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Curba de învățare</a:t>
                      </a:r>
                    </a:p>
                  </a:txBody>
                  <a:tcPr marL="51583" marR="51583" marT="25791" marB="25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ridicată</a:t>
                      </a:r>
                    </a:p>
                  </a:txBody>
                  <a:tcPr marL="51583" marR="51583" marT="25791" marB="25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minimă</a:t>
                      </a:r>
                    </a:p>
                  </a:txBody>
                  <a:tcPr marL="51583" marR="51583" marT="25791" marB="25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-80%</a:t>
                      </a:r>
                    </a:p>
                  </a:txBody>
                  <a:tcPr marL="51583" marR="51583" marT="25791" marB="257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385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9137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EB06D8-AF72-8D38-CEE3-20BC640D5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8452"/>
            <a:ext cx="4974771" cy="3587786"/>
          </a:xfrm>
        </p:spPr>
        <p:txBody>
          <a:bodyPr>
            <a:norm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Nevoi din ecosistemul FIIR/UPB</a:t>
            </a:r>
          </a:p>
        </p:txBody>
      </p:sp>
      <p:grpSp>
        <p:nvGrpSpPr>
          <p:cNvPr id="14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8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0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2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3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" name="Rectangle 2">
            <a:extLst>
              <a:ext uri="{FF2B5EF4-FFF2-40B4-BE49-F238E27FC236}">
                <a16:creationId xmlns:a16="http://schemas.microsoft.com/office/drawing/2014/main" id="{D4744820-A72B-ACA0-DCED-6CD8C367A5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77270" y="1130846"/>
            <a:ext cx="4974771" cy="43513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Promovarea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învățării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bazate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pe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AI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aplicat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în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proiectare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tehnică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;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Integrarea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Python + Blender +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Rețele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Neuronale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în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activități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laborator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;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Posibilitatea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simulare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3D a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modelelor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proiectate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în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cadrul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facultății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;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Suport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educațional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pentru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cursuri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Grafică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3D,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Robotică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95000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Rectangle 380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BF1FF2-DAE7-C133-8039-0FD85BAF9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694268"/>
            <a:ext cx="3553510" cy="5477932"/>
          </a:xfrm>
        </p:spPr>
        <p:txBody>
          <a:bodyPr>
            <a:normAutofit/>
          </a:bodyPr>
          <a:lstStyle/>
          <a:p>
            <a:pPr algn="ctr"/>
            <a:r>
              <a:rPr lang="en-US" b="1" dirty="0" err="1">
                <a:solidFill>
                  <a:schemeClr val="bg1"/>
                </a:solidFill>
              </a:rPr>
              <a:t>Surse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relevante</a:t>
            </a:r>
            <a:r>
              <a:rPr lang="en-US" b="1" dirty="0">
                <a:solidFill>
                  <a:schemeClr val="bg1"/>
                </a:solidFill>
              </a:rPr>
              <a:t> (3+)</a:t>
            </a:r>
          </a:p>
        </p:txBody>
      </p:sp>
      <p:grpSp>
        <p:nvGrpSpPr>
          <p:cNvPr id="382" name="Graphic 38">
            <a:extLst>
              <a:ext uri="{FF2B5EF4-FFF2-40B4-BE49-F238E27FC236}">
                <a16:creationId xmlns:a16="http://schemas.microsoft.com/office/drawing/2014/main" id="{1E8369D0-2C3B-4E27-AC6C-A246AC28C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3D5586F-4573-4C57-9793-1EBFDC8963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5EED35EF-93A0-4921-941C-ECC67AE2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84" name="Graphic 4">
            <a:extLst>
              <a:ext uri="{FF2B5EF4-FFF2-40B4-BE49-F238E27FC236}">
                <a16:creationId xmlns:a16="http://schemas.microsoft.com/office/drawing/2014/main" id="{C6F74901-2A71-43C3-837C-27CCD6B6D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37426" y="2203010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517B7142-9D64-4D34-B23C-9471326AD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E8EB71CD-AB26-440E-A0D5-E1081DB5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34423BD2-7458-4680-AF49-5013C9D30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0" name="Oval 29">
            <a:extLst>
              <a:ext uri="{FF2B5EF4-FFF2-40B4-BE49-F238E27FC236}">
                <a16:creationId xmlns:a16="http://schemas.microsoft.com/office/drawing/2014/main" id="{EC11F68A-CC71-4196-BBF3-20CDCD75D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85F9950-F10E-4E64-962B-F7034578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B802069-77C0-99A5-8CA5-BEF9B1D63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8247" y="354883"/>
            <a:ext cx="6433754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Chen, X. et al. “Text-to-3D Object Generation using Neural Networks.” (ACM Transactions on Graphics, 2023) —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Nu am 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găsit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link direct 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către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articolul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exact cu 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acest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titlu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în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ACM TOG.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OpenAI Research Blog – “Language Models as Code Generators” (2022)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https://openai.com/index/economic-impacts-research/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OpenAI+1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Autodesk Research – “AI in Generative Design and Manufacturing.” (2024)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https://www.autodesk.com/solutions/generative-design/manufacturing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autodesk.com+1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Blender Python API Documentation (2025)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https://docs.blender.org/api/current/index.html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docs.blender.org+1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Facultatea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Inginerie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Industrială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Robotică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– UPB (FIIR-UPB) – Research Group on Applied AI (2024)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https://www.fiir.upb.ro/index.php/en/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FIIR (IMST)+1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009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67A28D-575A-6523-475F-1E00ACFA1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5062" y="2429302"/>
            <a:ext cx="6701876" cy="145712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2. </a:t>
            </a:r>
            <a:r>
              <a:rPr lang="en-US" sz="40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Descrierea</a:t>
            </a:r>
            <a:r>
              <a: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Sistemului</a:t>
            </a:r>
            <a:r>
              <a: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cu </a:t>
            </a:r>
            <a:r>
              <a:rPr lang="en-US" sz="40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Inteligență</a:t>
            </a:r>
            <a:r>
              <a: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Artificială</a:t>
            </a:r>
            <a:r>
              <a: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ales</a:t>
            </a:r>
          </a:p>
        </p:txBody>
      </p:sp>
      <p:sp>
        <p:nvSpPr>
          <p:cNvPr id="17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9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1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9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19490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EBFCD5-5356-4326-8D39-8235A46CD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0809" y="1187311"/>
            <a:ext cx="5089552" cy="4483379"/>
          </a:xfrm>
          <a:prstGeom prst="rect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814848-248A-47DD-88E0-95099D951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301" y="1178924"/>
            <a:ext cx="5089552" cy="4483379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18BDA89-0D2C-4C4E-99F6-D7A220FE4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787" y="1130846"/>
            <a:ext cx="5039475" cy="4439266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aphic 38">
            <a:extLst>
              <a:ext uri="{FF2B5EF4-FFF2-40B4-BE49-F238E27FC236}">
                <a16:creationId xmlns:a16="http://schemas.microsoft.com/office/drawing/2014/main" id="{6B67BE95-96EF-433C-9F29-B0732AA6B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3040" y="1424181"/>
            <a:ext cx="1355538" cy="503582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D324976-1596-4B76-A61C-5626816B24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44DEF24-FB22-48A2-8257-B97AD7E1A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3" name="Graphic 212">
            <a:extLst>
              <a:ext uri="{FF2B5EF4-FFF2-40B4-BE49-F238E27FC236}">
                <a16:creationId xmlns:a16="http://schemas.microsoft.com/office/drawing/2014/main" id="{7CE98B01-ED41-482F-AFA1-19C7FA7C0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502" y="629793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5" name="Graphic 212">
            <a:extLst>
              <a:ext uri="{FF2B5EF4-FFF2-40B4-BE49-F238E27FC236}">
                <a16:creationId xmlns:a16="http://schemas.microsoft.com/office/drawing/2014/main" id="{B9CABDD0-8DF6-4974-A224-9A2A81778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502" y="629793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7" name="Graphic 4">
            <a:extLst>
              <a:ext uri="{FF2B5EF4-FFF2-40B4-BE49-F238E27FC236}">
                <a16:creationId xmlns:a16="http://schemas.microsoft.com/office/drawing/2014/main" id="{D6E8B984-55B9-4A62-A043-997D00F0A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32680" y="5188771"/>
            <a:ext cx="1076787" cy="1076789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4FAF4A8-82EB-4F6F-B601-43EBF0BD12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6F2473F-E069-4558-9B41-E285BBE030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C9A4A76-2C9F-486C-9663-6A30A022DE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8431DC7-D4CB-479A-AFA4-5B0C597A2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0755DA1-6F28-4612-A4A7-B915468C6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616ED79-5475-49E6-A5FE-8D9DB12FB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1DCEB47-7140-4682-8DBF-7667BE28F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EA931BD3-5A56-42F2-B6B5-647B28D1C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20E4C8E-4190-498D-9556-6DA668A81F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4B2F30F-0B57-4D60-A087-CD6A471F68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FC5E8C73-ED41-4214-AEE6-3C5F493846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1F94534-FE3E-476C-870B-E714E4A66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DE6C1B0-4D58-4937-B2B7-B1207CA18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63B376C-7B0D-EE52-48D2-19132DFED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1619"/>
            <a:ext cx="4905401" cy="4042196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err="1">
                <a:solidFill>
                  <a:schemeClr val="bg1"/>
                </a:solidFill>
              </a:rPr>
              <a:t>Propunerea</a:t>
            </a:r>
            <a:r>
              <a:rPr lang="en-US" sz="4000" b="1" dirty="0">
                <a:solidFill>
                  <a:schemeClr val="bg1"/>
                </a:solidFill>
              </a:rPr>
              <a:t> SIA-</a:t>
            </a:r>
            <a:r>
              <a:rPr lang="en-US" sz="4000" b="1" dirty="0" err="1">
                <a:solidFill>
                  <a:schemeClr val="bg1"/>
                </a:solidFill>
              </a:rPr>
              <a:t>ului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D1ADC5-563C-7C3C-6A8C-5DAD33BF3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270" y="1130846"/>
            <a:ext cx="4974771" cy="4351338"/>
          </a:xfrm>
        </p:spPr>
        <p:txBody>
          <a:bodyPr>
            <a:normAutofit/>
          </a:bodyPr>
          <a:lstStyle/>
          <a:p>
            <a:r>
              <a:rPr lang="en-US" sz="2600" dirty="0" err="1">
                <a:solidFill>
                  <a:schemeClr val="bg1"/>
                </a:solidFill>
              </a:rPr>
              <a:t>Sistemul</a:t>
            </a:r>
            <a:r>
              <a:rPr lang="en-US" sz="2600" dirty="0">
                <a:solidFill>
                  <a:schemeClr val="bg1"/>
                </a:solidFill>
              </a:rPr>
              <a:t> AI </a:t>
            </a:r>
            <a:r>
              <a:rPr lang="en-US" sz="2600" dirty="0" err="1">
                <a:solidFill>
                  <a:schemeClr val="bg1"/>
                </a:solidFill>
              </a:rPr>
              <a:t>dezvoltat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interpretează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comenzi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textuale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și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generează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scripturi</a:t>
            </a:r>
            <a:r>
              <a:rPr lang="en-US" sz="2600" dirty="0">
                <a:solidFill>
                  <a:schemeClr val="bg1"/>
                </a:solidFill>
              </a:rPr>
              <a:t> Python </a:t>
            </a:r>
            <a:r>
              <a:rPr lang="en-US" sz="2600" dirty="0" err="1">
                <a:solidFill>
                  <a:schemeClr val="bg1"/>
                </a:solidFill>
              </a:rPr>
              <a:t>pentru</a:t>
            </a:r>
            <a:r>
              <a:rPr lang="en-US" sz="2600" dirty="0">
                <a:solidFill>
                  <a:schemeClr val="bg1"/>
                </a:solidFill>
              </a:rPr>
              <a:t> Blender.</a:t>
            </a:r>
            <a:br>
              <a:rPr lang="en-US" sz="2600" dirty="0">
                <a:solidFill>
                  <a:schemeClr val="bg1"/>
                </a:solidFill>
              </a:rPr>
            </a:br>
            <a:r>
              <a:rPr lang="en-US" sz="2600" dirty="0">
                <a:solidFill>
                  <a:schemeClr val="bg1"/>
                </a:solidFill>
              </a:rPr>
              <a:t>Modelul NLP </a:t>
            </a:r>
            <a:r>
              <a:rPr lang="en-US" sz="2600" dirty="0" err="1">
                <a:solidFill>
                  <a:schemeClr val="bg1"/>
                </a:solidFill>
              </a:rPr>
              <a:t>folosește</a:t>
            </a:r>
            <a:r>
              <a:rPr lang="en-US" sz="2600" dirty="0">
                <a:solidFill>
                  <a:schemeClr val="bg1"/>
                </a:solidFill>
              </a:rPr>
              <a:t> o </a:t>
            </a:r>
            <a:r>
              <a:rPr lang="en-US" sz="2600" dirty="0" err="1">
                <a:solidFill>
                  <a:schemeClr val="bg1"/>
                </a:solidFill>
              </a:rPr>
              <a:t>rețea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neuronală</a:t>
            </a:r>
            <a:r>
              <a:rPr lang="en-US" sz="2600" dirty="0">
                <a:solidFill>
                  <a:schemeClr val="bg1"/>
                </a:solidFill>
              </a:rPr>
              <a:t> (ex. Transformer </a:t>
            </a:r>
            <a:r>
              <a:rPr lang="en-US" sz="2600" dirty="0" err="1">
                <a:solidFill>
                  <a:schemeClr val="bg1"/>
                </a:solidFill>
              </a:rPr>
              <a:t>sau</a:t>
            </a:r>
            <a:r>
              <a:rPr lang="en-US" sz="2600" dirty="0">
                <a:solidFill>
                  <a:schemeClr val="bg1"/>
                </a:solidFill>
              </a:rPr>
              <a:t> T5) </a:t>
            </a:r>
            <a:r>
              <a:rPr lang="en-US" sz="2600" dirty="0" err="1">
                <a:solidFill>
                  <a:schemeClr val="bg1"/>
                </a:solidFill>
              </a:rPr>
              <a:t>antrenată</a:t>
            </a:r>
            <a:r>
              <a:rPr lang="en-US" sz="2600" dirty="0">
                <a:solidFill>
                  <a:schemeClr val="bg1"/>
                </a:solidFill>
              </a:rPr>
              <a:t> pe </a:t>
            </a:r>
            <a:r>
              <a:rPr lang="en-US" sz="2600" dirty="0" err="1">
                <a:solidFill>
                  <a:schemeClr val="bg1"/>
                </a:solidFill>
              </a:rPr>
              <a:t>exemple</a:t>
            </a:r>
            <a:r>
              <a:rPr lang="en-US" sz="2600" dirty="0">
                <a:solidFill>
                  <a:schemeClr val="bg1"/>
                </a:solidFill>
              </a:rPr>
              <a:t> text–cod.</a:t>
            </a:r>
            <a:br>
              <a:rPr lang="en-US" sz="2600" dirty="0">
                <a:solidFill>
                  <a:schemeClr val="bg1"/>
                </a:solidFill>
              </a:rPr>
            </a:br>
            <a:r>
              <a:rPr lang="en-US" sz="2600" dirty="0" err="1">
                <a:solidFill>
                  <a:schemeClr val="bg1"/>
                </a:solidFill>
              </a:rPr>
              <a:t>Rezultatul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este</a:t>
            </a:r>
            <a:r>
              <a:rPr lang="en-US" sz="2600" dirty="0">
                <a:solidFill>
                  <a:schemeClr val="bg1"/>
                </a:solidFill>
              </a:rPr>
              <a:t> un </a:t>
            </a:r>
            <a:r>
              <a:rPr lang="en-US" sz="2600" b="1" dirty="0">
                <a:solidFill>
                  <a:schemeClr val="bg1"/>
                </a:solidFill>
              </a:rPr>
              <a:t>generator de cod 3D </a:t>
            </a:r>
            <a:r>
              <a:rPr lang="en-US" sz="2600" b="1" dirty="0" err="1">
                <a:solidFill>
                  <a:schemeClr val="bg1"/>
                </a:solidFill>
              </a:rPr>
              <a:t>automatizat</a:t>
            </a:r>
            <a:r>
              <a:rPr lang="en-US" sz="2600" dirty="0">
                <a:solidFill>
                  <a:schemeClr val="bg1"/>
                </a:solidFill>
              </a:rPr>
              <a:t>, </a:t>
            </a:r>
            <a:r>
              <a:rPr lang="en-US" sz="2600" dirty="0" err="1">
                <a:solidFill>
                  <a:schemeClr val="bg1"/>
                </a:solidFill>
              </a:rPr>
              <a:t>aplicabil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în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educație</a:t>
            </a:r>
            <a:r>
              <a:rPr lang="en-US" sz="2600" dirty="0">
                <a:solidFill>
                  <a:schemeClr val="bg1"/>
                </a:solidFill>
              </a:rPr>
              <a:t>, design </a:t>
            </a:r>
            <a:r>
              <a:rPr lang="en-US" sz="2600" dirty="0" err="1">
                <a:solidFill>
                  <a:schemeClr val="bg1"/>
                </a:solidFill>
              </a:rPr>
              <a:t>și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dirty="0" err="1">
                <a:solidFill>
                  <a:schemeClr val="bg1"/>
                </a:solidFill>
              </a:rPr>
              <a:t>producție</a:t>
            </a:r>
            <a:r>
              <a:rPr lang="en-US" sz="26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D14E33A-FF37-B2EA-2A38-B8BFA00F98A0}"/>
              </a:ext>
            </a:extLst>
          </p:cNvPr>
          <p:cNvSpPr txBox="1">
            <a:spLocks/>
          </p:cNvSpPr>
          <p:nvPr/>
        </p:nvSpPr>
        <p:spPr>
          <a:xfrm>
            <a:off x="838200" y="44934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064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1F77B6A-7F53-4B28-B73D-C8CC899AB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AAA0AE-9CB5-B8AD-91FE-DE1CD2EED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6578" y="685680"/>
            <a:ext cx="4203323" cy="359620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Capabilități și roluri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515629F-0D83-4A44-A125-CD50FC660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013" y="1361348"/>
            <a:ext cx="4833902" cy="4258176"/>
            <a:chOff x="1674895" y="1345036"/>
            <a:chExt cx="5428610" cy="421093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1A5080B-EAC4-4530-815C-DE8DACA09D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4667345-04B5-4757-9CE0-969DC1DE5E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6E412EF-CF39-4C25-85B0-DB30B1B0A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80033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8DA6235-17F2-4C9E-88C6-C5D38D8D3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768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55DEF71-1741-4489-8E77-46FC5BAA6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69494" y="1220741"/>
            <a:ext cx="4833901" cy="4258176"/>
          </a:xfrm>
          <a:prstGeom prst="rect">
            <a:avLst/>
          </a:prstGeom>
          <a:solidFill>
            <a:schemeClr val="tx1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2347B6D-A7CC-48EB-861F-917D0D61E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69494" y="1220741"/>
            <a:ext cx="4833901" cy="4258176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7A0A46D-CC9B-4E32-870A-7BC2DF9401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7284" y="4357092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178722E-1BD0-427E-BAAE-4F206DAB5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7284" y="4357092"/>
            <a:ext cx="319941" cy="31994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Graphic 212">
            <a:extLst>
              <a:ext uri="{FF2B5EF4-FFF2-40B4-BE49-F238E27FC236}">
                <a16:creationId xmlns:a16="http://schemas.microsoft.com/office/drawing/2014/main" id="{A753B935-E3DD-466D-BFAC-68E0BE02D0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1971" y="858936"/>
            <a:ext cx="693403" cy="693403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9" name="Graphic 212">
            <a:extLst>
              <a:ext uri="{FF2B5EF4-FFF2-40B4-BE49-F238E27FC236}">
                <a16:creationId xmlns:a16="http://schemas.microsoft.com/office/drawing/2014/main" id="{FB034F26-4148-4B59-B493-14D7A9A8B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1971" y="858936"/>
            <a:ext cx="693403" cy="693403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31" name="Graphic 185">
            <a:extLst>
              <a:ext uri="{FF2B5EF4-FFF2-40B4-BE49-F238E27FC236}">
                <a16:creationId xmlns:a16="http://schemas.microsoft.com/office/drawing/2014/main" id="{5E6BB5FD-DB7B-4BE3-BA45-1EF042115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929FF76-4B3A-4294-BE6E-B507B22D1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253C18A4-10CC-4E91-A8A2-D5368972A1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356AC2F-73E0-44FD-B346-A209D274D3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95A85581-9712-414C-82D4-2FE96ACB2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B0828F2-35E7-4424-8082-6C258B676E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0024135-E88F-761A-CBA1-EF1FD4666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9047689"/>
              </p:ext>
            </p:extLst>
          </p:nvPr>
        </p:nvGraphicFramePr>
        <p:xfrm>
          <a:off x="1369493" y="1220741"/>
          <a:ext cx="4863667" cy="4258175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956691">
                  <a:extLst>
                    <a:ext uri="{9D8B030D-6E8A-4147-A177-3AD203B41FA5}">
                      <a16:colId xmlns:a16="http://schemas.microsoft.com/office/drawing/2014/main" val="824004209"/>
                    </a:ext>
                  </a:extLst>
                </a:gridCol>
                <a:gridCol w="2906976">
                  <a:extLst>
                    <a:ext uri="{9D8B030D-6E8A-4147-A177-3AD203B41FA5}">
                      <a16:colId xmlns:a16="http://schemas.microsoft.com/office/drawing/2014/main" val="3835832242"/>
                    </a:ext>
                  </a:extLst>
                </a:gridCol>
              </a:tblGrid>
              <a:tr h="4525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Componentă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73351" marR="73351" marT="36675" marB="36675" anchor="ctr"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Rol</a:t>
                      </a:r>
                    </a:p>
                  </a:txBody>
                  <a:tcPr marL="73351" marR="73351" marT="36675" marB="36675" anchor="ctr"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451626"/>
                  </a:ext>
                </a:extLst>
              </a:tr>
              <a:tr h="7611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Modul NLP</a:t>
                      </a:r>
                    </a:p>
                  </a:txBody>
                  <a:tcPr marL="73351" marR="73351" marT="36675" marB="36675" anchor="ctr"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Interpretează comanda în limbaj natural</a:t>
                      </a:r>
                    </a:p>
                  </a:txBody>
                  <a:tcPr marL="73351" marR="73351" marT="36675" marB="36675" anchor="ctr"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680143"/>
                  </a:ext>
                </a:extLst>
              </a:tr>
              <a:tr h="7611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Generator Cod</a:t>
                      </a:r>
                    </a:p>
                  </a:txBody>
                  <a:tcPr marL="73351" marR="73351" marT="36675" marB="36675" anchor="ctr"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Creează scriptul Python corespunzător</a:t>
                      </a:r>
                    </a:p>
                  </a:txBody>
                  <a:tcPr marL="73351" marR="73351" marT="36675" marB="36675" anchor="ctr"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5516084"/>
                  </a:ext>
                </a:extLst>
              </a:tr>
              <a:tr h="7611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Modul Blender</a:t>
                      </a:r>
                    </a:p>
                  </a:txBody>
                  <a:tcPr marL="73351" marR="73351" marT="36675" marB="36675" anchor="ctr"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Rulează scriptul și vizualizează forma 3D</a:t>
                      </a:r>
                    </a:p>
                  </a:txBody>
                  <a:tcPr marL="73351" marR="73351" marT="36675" marB="36675" anchor="ctr"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904383"/>
                  </a:ext>
                </a:extLst>
              </a:tr>
              <a:tr h="7611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Interfață Utilizator</a:t>
                      </a:r>
                    </a:p>
                  </a:txBody>
                  <a:tcPr marL="73351" marR="73351" marT="36675" marB="36675" anchor="ctr"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Primește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comenzi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text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și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afișează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rezultate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73351" marR="73351" marT="36675" marB="36675" anchor="ctr"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4746908"/>
                  </a:ext>
                </a:extLst>
              </a:tr>
              <a:tr h="7611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Sistem de Log/Feedback</a:t>
                      </a:r>
                    </a:p>
                  </a:txBody>
                  <a:tcPr marL="73351" marR="73351" marT="36675" marB="36675" anchor="ctr"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Colectează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erori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învață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din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corecții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73351" marR="73351" marT="36675" marB="36675" anchor="ctr"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12430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94982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4D25D2-6E58-1EAC-F7A4-0013B98F4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215" y="2516562"/>
            <a:ext cx="5414438" cy="2048932"/>
          </a:xfrm>
        </p:spPr>
        <p:txBody>
          <a:bodyPr>
            <a:normAutofit/>
          </a:bodyPr>
          <a:lstStyle/>
          <a:p>
            <a:pPr algn="ctr"/>
            <a:r>
              <a:rPr lang="it-IT" sz="4000" b="1" dirty="0">
                <a:solidFill>
                  <a:schemeClr val="bg1"/>
                </a:solidFill>
              </a:rPr>
              <a:t>Arhitectura sistemului</a:t>
            </a:r>
            <a:endParaRPr lang="en-US" sz="4000" b="1" dirty="0">
              <a:solidFill>
                <a:schemeClr val="bg1"/>
              </a:solidFill>
            </a:endParaRPr>
          </a:p>
        </p:txBody>
      </p:sp>
      <p:grpSp>
        <p:nvGrpSpPr>
          <p:cNvPr id="10" name="Graphic 38">
            <a:extLst>
              <a:ext uri="{FF2B5EF4-FFF2-40B4-BE49-F238E27FC236}">
                <a16:creationId xmlns:a16="http://schemas.microsoft.com/office/drawing/2014/main" id="{1E8369D0-2C3B-4E27-AC6C-A246AC28C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3D5586F-4573-4C57-9793-1EBFDC8963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EED35EF-93A0-4921-941C-ECC67AE2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4" name="Graphic 4">
            <a:extLst>
              <a:ext uri="{FF2B5EF4-FFF2-40B4-BE49-F238E27FC236}">
                <a16:creationId xmlns:a16="http://schemas.microsoft.com/office/drawing/2014/main" id="{C6F74901-2A71-43C3-837C-27CCD6B6D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37426" y="2203010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B7142-9D64-4D34-B23C-9471326AD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8EB71CD-AB26-440E-A0D5-E1081DB5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4423BD2-7458-4680-AF49-5013C9D30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EC11F68A-CC71-4196-BBF3-20CDCD75D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85F9950-F10E-4E64-962B-F7034578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564D4-E791-5751-9ABC-F6CD34266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 err="1">
                <a:solidFill>
                  <a:schemeClr val="bg1"/>
                </a:solidFill>
              </a:rPr>
              <a:t>Componente</a:t>
            </a:r>
            <a:r>
              <a:rPr lang="en-US" sz="2200" b="1" dirty="0">
                <a:solidFill>
                  <a:schemeClr val="bg1"/>
                </a:solidFill>
              </a:rPr>
              <a:t>:</a:t>
            </a:r>
            <a:endParaRPr lang="en-US" sz="2200" dirty="0">
              <a:solidFill>
                <a:schemeClr val="bg1"/>
              </a:solidFill>
            </a:endParaRPr>
          </a:p>
          <a:p>
            <a:r>
              <a:rPr lang="en-US" sz="2200" b="1" dirty="0" err="1">
                <a:solidFill>
                  <a:schemeClr val="bg1"/>
                </a:solidFill>
              </a:rPr>
              <a:t>Interfață</a:t>
            </a:r>
            <a:r>
              <a:rPr lang="en-US" sz="2200" b="1" dirty="0">
                <a:solidFill>
                  <a:schemeClr val="bg1"/>
                </a:solidFill>
              </a:rPr>
              <a:t> text (UI)</a:t>
            </a:r>
            <a:r>
              <a:rPr lang="en-US" sz="2200" dirty="0">
                <a:solidFill>
                  <a:schemeClr val="bg1"/>
                </a:solidFill>
              </a:rPr>
              <a:t> → input </a:t>
            </a:r>
            <a:r>
              <a:rPr lang="en-US" sz="2200" dirty="0" err="1">
                <a:solidFill>
                  <a:schemeClr val="bg1"/>
                </a:solidFill>
              </a:rPr>
              <a:t>utilizator</a:t>
            </a:r>
            <a:endParaRPr lang="en-US" sz="2200" dirty="0">
              <a:solidFill>
                <a:schemeClr val="bg1"/>
              </a:solidFill>
            </a:endParaRPr>
          </a:p>
          <a:p>
            <a:r>
              <a:rPr lang="en-US" sz="2200" b="1" dirty="0">
                <a:solidFill>
                  <a:schemeClr val="bg1"/>
                </a:solidFill>
              </a:rPr>
              <a:t>Model AI NLP</a:t>
            </a:r>
            <a:r>
              <a:rPr lang="en-US" sz="2200" dirty="0">
                <a:solidFill>
                  <a:schemeClr val="bg1"/>
                </a:solidFill>
              </a:rPr>
              <a:t> → </a:t>
            </a:r>
            <a:r>
              <a:rPr lang="en-US" sz="2200" dirty="0" err="1">
                <a:solidFill>
                  <a:schemeClr val="bg1"/>
                </a:solidFill>
              </a:rPr>
              <a:t>interpretare</a:t>
            </a:r>
            <a:r>
              <a:rPr lang="en-US" sz="2200" dirty="0">
                <a:solidFill>
                  <a:schemeClr val="bg1"/>
                </a:solidFill>
              </a:rPr>
              <a:t> text</a:t>
            </a:r>
          </a:p>
          <a:p>
            <a:r>
              <a:rPr lang="en-US" sz="2200" b="1" dirty="0">
                <a:solidFill>
                  <a:schemeClr val="bg1"/>
                </a:solidFill>
              </a:rPr>
              <a:t>Generator de cod</a:t>
            </a:r>
            <a:r>
              <a:rPr lang="en-US" sz="2200" dirty="0">
                <a:solidFill>
                  <a:schemeClr val="bg1"/>
                </a:solidFill>
              </a:rPr>
              <a:t> → produce script Python</a:t>
            </a:r>
          </a:p>
          <a:p>
            <a:r>
              <a:rPr lang="en-US" sz="2200" b="1" dirty="0">
                <a:solidFill>
                  <a:schemeClr val="bg1"/>
                </a:solidFill>
              </a:rPr>
              <a:t>Motor Blender API</a:t>
            </a:r>
            <a:r>
              <a:rPr lang="en-US" sz="2200" dirty="0">
                <a:solidFill>
                  <a:schemeClr val="bg1"/>
                </a:solidFill>
              </a:rPr>
              <a:t> → </a:t>
            </a:r>
            <a:r>
              <a:rPr lang="en-US" sz="2200" dirty="0" err="1">
                <a:solidFill>
                  <a:schemeClr val="bg1"/>
                </a:solidFill>
              </a:rPr>
              <a:t>execuție</a:t>
            </a:r>
            <a:r>
              <a:rPr lang="en-US" sz="2200" dirty="0">
                <a:solidFill>
                  <a:schemeClr val="bg1"/>
                </a:solidFill>
              </a:rPr>
              <a:t> script → </a:t>
            </a:r>
            <a:r>
              <a:rPr lang="en-US" sz="2200" dirty="0" err="1">
                <a:solidFill>
                  <a:schemeClr val="bg1"/>
                </a:solidFill>
              </a:rPr>
              <a:t>formă</a:t>
            </a:r>
            <a:r>
              <a:rPr lang="en-US" sz="2200" dirty="0">
                <a:solidFill>
                  <a:schemeClr val="bg1"/>
                </a:solidFill>
              </a:rPr>
              <a:t> 3D</a:t>
            </a:r>
          </a:p>
          <a:p>
            <a:r>
              <a:rPr lang="en-US" sz="2200" b="1" dirty="0" err="1">
                <a:solidFill>
                  <a:schemeClr val="bg1"/>
                </a:solidFill>
              </a:rPr>
              <a:t>Bază</a:t>
            </a:r>
            <a:r>
              <a:rPr lang="en-US" sz="2200" b="1" dirty="0">
                <a:solidFill>
                  <a:schemeClr val="bg1"/>
                </a:solidFill>
              </a:rPr>
              <a:t> de date / </a:t>
            </a:r>
            <a:r>
              <a:rPr lang="en-US" sz="2200" b="1" dirty="0" err="1">
                <a:solidFill>
                  <a:schemeClr val="bg1"/>
                </a:solidFill>
              </a:rPr>
              <a:t>fișiere</a:t>
            </a:r>
            <a:r>
              <a:rPr lang="en-US" sz="2200" dirty="0">
                <a:solidFill>
                  <a:schemeClr val="bg1"/>
                </a:solidFill>
              </a:rPr>
              <a:t> → </a:t>
            </a:r>
            <a:r>
              <a:rPr lang="en-US" sz="2200" dirty="0" err="1">
                <a:solidFill>
                  <a:schemeClr val="bg1"/>
                </a:solidFill>
              </a:rPr>
              <a:t>salvare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scripturi</a:t>
            </a:r>
            <a:r>
              <a:rPr lang="en-US" sz="2200" dirty="0">
                <a:solidFill>
                  <a:schemeClr val="bg1"/>
                </a:solidFill>
              </a:rPr>
              <a:t>, </a:t>
            </a:r>
            <a:r>
              <a:rPr lang="en-US" sz="2200" dirty="0" err="1">
                <a:solidFill>
                  <a:schemeClr val="bg1"/>
                </a:solidFill>
              </a:rPr>
              <a:t>forme</a:t>
            </a:r>
            <a:r>
              <a:rPr lang="en-US" sz="2200" dirty="0">
                <a:solidFill>
                  <a:schemeClr val="bg1"/>
                </a:solidFill>
              </a:rPr>
              <a:t>, </a:t>
            </a:r>
            <a:r>
              <a:rPr lang="en-US" sz="2200" dirty="0" err="1">
                <a:solidFill>
                  <a:schemeClr val="bg1"/>
                </a:solidFill>
              </a:rPr>
              <a:t>istoric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comenzi</a:t>
            </a:r>
            <a:endParaRPr lang="en-US" sz="2200" dirty="0">
              <a:solidFill>
                <a:schemeClr val="bg1"/>
              </a:solidFill>
            </a:endParaRPr>
          </a:p>
          <a:p>
            <a:r>
              <a:rPr lang="en-US" sz="2200" i="1" dirty="0">
                <a:solidFill>
                  <a:schemeClr val="bg1"/>
                </a:solidFill>
              </a:rPr>
              <a:t>Text → AI → Script → Blender → Model 3D)</a:t>
            </a:r>
            <a:endParaRPr lang="en-US" sz="2200" dirty="0">
              <a:solidFill>
                <a:schemeClr val="bg1"/>
              </a:solidFill>
            </a:endParaRPr>
          </a:p>
          <a:p>
            <a:endParaRPr lang="en-US" sz="2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0544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49FBC1-1308-BFAF-C626-71DBB18EA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293" y="3190957"/>
            <a:ext cx="4779817" cy="1120884"/>
          </a:xfrm>
        </p:spPr>
        <p:txBody>
          <a:bodyPr>
            <a:normAutofit/>
          </a:bodyPr>
          <a:lstStyle/>
          <a:p>
            <a:pPr algn="ctr"/>
            <a:r>
              <a:rPr lang="en-US" b="1" dirty="0" err="1">
                <a:solidFill>
                  <a:schemeClr val="bg1"/>
                </a:solidFill>
              </a:rPr>
              <a:t>Fluxurile</a:t>
            </a:r>
            <a:r>
              <a:rPr lang="en-US" b="1" dirty="0">
                <a:solidFill>
                  <a:schemeClr val="bg1"/>
                </a:solidFill>
              </a:rPr>
              <a:t> de date</a:t>
            </a:r>
          </a:p>
        </p:txBody>
      </p:sp>
      <p:grpSp>
        <p:nvGrpSpPr>
          <p:cNvPr id="12" name="Graphic 38">
            <a:extLst>
              <a:ext uri="{FF2B5EF4-FFF2-40B4-BE49-F238E27FC236}">
                <a16:creationId xmlns:a16="http://schemas.microsoft.com/office/drawing/2014/main" id="{1E8369D0-2C3B-4E27-AC6C-A246AC28C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3D5586F-4573-4C57-9793-1EBFDC8963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EED35EF-93A0-4921-941C-ECC67AE2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6" name="Graphic 4">
            <a:extLst>
              <a:ext uri="{FF2B5EF4-FFF2-40B4-BE49-F238E27FC236}">
                <a16:creationId xmlns:a16="http://schemas.microsoft.com/office/drawing/2014/main" id="{C6F74901-2A71-43C3-837C-27CCD6B6D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37426" y="2203010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17B7142-9D64-4D34-B23C-9471326AD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8EB71CD-AB26-440E-A0D5-E1081DB5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4423BD2-7458-4680-AF49-5013C9D30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EC11F68A-CC71-4196-BBF3-20CDCD75D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85F9950-F10E-4E64-962B-F7034578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000B29F-98AF-3BF4-D2BE-1C9761605A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34868" y="1130846"/>
            <a:ext cx="5217173" cy="43513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Intrare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Comandă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text (ex: „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creează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o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sferă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albastră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”)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→ AI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procesează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textul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generează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script Python.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Ieșire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Cod Python + imagine 3D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rezultată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Feedback: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Sistemul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poate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învăța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din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corecții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(reinforcement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sau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fine-tuning).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Stocare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scripturi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.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fișiere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.blend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salvate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local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sau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în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cloud.</a:t>
            </a:r>
          </a:p>
        </p:txBody>
      </p:sp>
    </p:spTree>
    <p:extLst>
      <p:ext uri="{BB962C8B-B14F-4D97-AF65-F5344CB8AC3E}">
        <p14:creationId xmlns:p14="http://schemas.microsoft.com/office/powerpoint/2010/main" val="10827706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617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B622D4-2A79-28F5-2F24-8396CE933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736" y="507238"/>
            <a:ext cx="3624471" cy="384589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Datele de intrare/ieșire</a:t>
            </a:r>
          </a:p>
        </p:txBody>
      </p:sp>
      <p:sp>
        <p:nvSpPr>
          <p:cNvPr id="11" name="Graphic 212">
            <a:extLst>
              <a:ext uri="{FF2B5EF4-FFF2-40B4-BE49-F238E27FC236}">
                <a16:creationId xmlns:a16="http://schemas.microsoft.com/office/drawing/2014/main" id="{7FC918AD-C067-46DF-8F98-83352CB946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10600" y="481489"/>
            <a:ext cx="932200" cy="932200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3" name="Graphic 212">
            <a:extLst>
              <a:ext uri="{FF2B5EF4-FFF2-40B4-BE49-F238E27FC236}">
                <a16:creationId xmlns:a16="http://schemas.microsoft.com/office/drawing/2014/main" id="{3C1473DD-4042-44F9-A962-71F52BAE32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10600" y="481489"/>
            <a:ext cx="932200" cy="932200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C86BE98-673F-469D-B15E-8B6305CE3A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62945" y="1898890"/>
            <a:ext cx="1598829" cy="531293"/>
            <a:chOff x="6491531" y="1420258"/>
            <a:chExt cx="1598829" cy="531293"/>
          </a:xfrm>
          <a:solidFill>
            <a:schemeClr val="bg1"/>
          </a:solidFill>
        </p:grpSpPr>
        <p:grpSp>
          <p:nvGrpSpPr>
            <p:cNvPr id="16" name="Graphic 190">
              <a:extLst>
                <a:ext uri="{FF2B5EF4-FFF2-40B4-BE49-F238E27FC236}">
                  <a16:creationId xmlns:a16="http://schemas.microsoft.com/office/drawing/2014/main" id="{D60FC4AA-5A68-4DF2-BD89-67DB10986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491531" y="1420258"/>
              <a:ext cx="1598829" cy="531293"/>
              <a:chOff x="2504802" y="1755501"/>
              <a:chExt cx="1598829" cy="531293"/>
            </a:xfrm>
            <a:grpFill/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ACC71B55-3529-463E-B5AB-1011B95EF0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2113855"/>
                <a:ext cx="1598614" cy="172939"/>
              </a:xfrm>
              <a:custGeom>
                <a:avLst/>
                <a:gdLst>
                  <a:gd name="connsiteX0" fmla="*/ 1248648 w 1598614"/>
                  <a:gd name="connsiteY0" fmla="*/ 172939 h 172939"/>
                  <a:gd name="connsiteX1" fmla="*/ 1123031 w 1598614"/>
                  <a:gd name="connsiteY1" fmla="*/ 92708 h 172939"/>
                  <a:gd name="connsiteX2" fmla="*/ 1024085 w 1598614"/>
                  <a:gd name="connsiteY2" fmla="*/ 29469 h 172939"/>
                  <a:gd name="connsiteX3" fmla="*/ 925140 w 1598614"/>
                  <a:gd name="connsiteY3" fmla="*/ 92708 h 172939"/>
                  <a:gd name="connsiteX4" fmla="*/ 799522 w 1598614"/>
                  <a:gd name="connsiteY4" fmla="*/ 172939 h 172939"/>
                  <a:gd name="connsiteX5" fmla="*/ 799522 w 1598614"/>
                  <a:gd name="connsiteY5" fmla="*/ 172939 h 172939"/>
                  <a:gd name="connsiteX6" fmla="*/ 673905 w 1598614"/>
                  <a:gd name="connsiteY6" fmla="*/ 92708 h 172939"/>
                  <a:gd name="connsiteX7" fmla="*/ 574959 w 1598614"/>
                  <a:gd name="connsiteY7" fmla="*/ 29469 h 172939"/>
                  <a:gd name="connsiteX8" fmla="*/ 476014 w 1598614"/>
                  <a:gd name="connsiteY8" fmla="*/ 92708 h 172939"/>
                  <a:gd name="connsiteX9" fmla="*/ 350396 w 1598614"/>
                  <a:gd name="connsiteY9" fmla="*/ 172939 h 172939"/>
                  <a:gd name="connsiteX10" fmla="*/ 224778 w 1598614"/>
                  <a:gd name="connsiteY10" fmla="*/ 92708 h 172939"/>
                  <a:gd name="connsiteX11" fmla="*/ 125833 w 1598614"/>
                  <a:gd name="connsiteY11" fmla="*/ 29469 h 172939"/>
                  <a:gd name="connsiteX12" fmla="*/ 26887 w 1598614"/>
                  <a:gd name="connsiteY12" fmla="*/ 92708 h 172939"/>
                  <a:gd name="connsiteX13" fmla="*/ 0 w 1598614"/>
                  <a:gd name="connsiteY13" fmla="*/ 80232 h 172939"/>
                  <a:gd name="connsiteX14" fmla="*/ 125618 w 1598614"/>
                  <a:gd name="connsiteY14" fmla="*/ 0 h 172939"/>
                  <a:gd name="connsiteX15" fmla="*/ 251235 w 1598614"/>
                  <a:gd name="connsiteY15" fmla="*/ 80232 h 172939"/>
                  <a:gd name="connsiteX16" fmla="*/ 350181 w 1598614"/>
                  <a:gd name="connsiteY16" fmla="*/ 143471 h 172939"/>
                  <a:gd name="connsiteX17" fmla="*/ 449126 w 1598614"/>
                  <a:gd name="connsiteY17" fmla="*/ 80232 h 172939"/>
                  <a:gd name="connsiteX18" fmla="*/ 574744 w 1598614"/>
                  <a:gd name="connsiteY18" fmla="*/ 0 h 172939"/>
                  <a:gd name="connsiteX19" fmla="*/ 700362 w 1598614"/>
                  <a:gd name="connsiteY19" fmla="*/ 80232 h 172939"/>
                  <a:gd name="connsiteX20" fmla="*/ 799307 w 1598614"/>
                  <a:gd name="connsiteY20" fmla="*/ 143471 h 172939"/>
                  <a:gd name="connsiteX21" fmla="*/ 799307 w 1598614"/>
                  <a:gd name="connsiteY21" fmla="*/ 143471 h 172939"/>
                  <a:gd name="connsiteX22" fmla="*/ 898253 w 1598614"/>
                  <a:gd name="connsiteY22" fmla="*/ 80232 h 172939"/>
                  <a:gd name="connsiteX23" fmla="*/ 1023870 w 1598614"/>
                  <a:gd name="connsiteY23" fmla="*/ 0 h 172939"/>
                  <a:gd name="connsiteX24" fmla="*/ 1149488 w 1598614"/>
                  <a:gd name="connsiteY24" fmla="*/ 80232 h 172939"/>
                  <a:gd name="connsiteX25" fmla="*/ 1248433 w 1598614"/>
                  <a:gd name="connsiteY25" fmla="*/ 143471 h 172939"/>
                  <a:gd name="connsiteX26" fmla="*/ 1347379 w 1598614"/>
                  <a:gd name="connsiteY26" fmla="*/ 80232 h 172939"/>
                  <a:gd name="connsiteX27" fmla="*/ 1472997 w 1598614"/>
                  <a:gd name="connsiteY27" fmla="*/ 0 h 172939"/>
                  <a:gd name="connsiteX28" fmla="*/ 1598614 w 1598614"/>
                  <a:gd name="connsiteY28" fmla="*/ 80232 h 172939"/>
                  <a:gd name="connsiteX29" fmla="*/ 1571942 w 1598614"/>
                  <a:gd name="connsiteY29" fmla="*/ 92708 h 172939"/>
                  <a:gd name="connsiteX30" fmla="*/ 1472997 w 1598614"/>
                  <a:gd name="connsiteY30" fmla="*/ 29469 h 172939"/>
                  <a:gd name="connsiteX31" fmla="*/ 1374051 w 1598614"/>
                  <a:gd name="connsiteY31" fmla="*/ 92708 h 172939"/>
                  <a:gd name="connsiteX32" fmla="*/ 1248648 w 1598614"/>
                  <a:gd name="connsiteY32" fmla="*/ 172939 h 172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614" h="172939">
                    <a:moveTo>
                      <a:pt x="1248648" y="172939"/>
                    </a:moveTo>
                    <a:cubicBezTo>
                      <a:pt x="1194229" y="172939"/>
                      <a:pt x="1146046" y="142180"/>
                      <a:pt x="1123031" y="92708"/>
                    </a:cubicBezTo>
                    <a:cubicBezTo>
                      <a:pt x="1104962" y="53775"/>
                      <a:pt x="1067105" y="29469"/>
                      <a:pt x="1024085" y="29469"/>
                    </a:cubicBezTo>
                    <a:cubicBezTo>
                      <a:pt x="981066" y="29469"/>
                      <a:pt x="943208" y="53775"/>
                      <a:pt x="925140" y="92708"/>
                    </a:cubicBezTo>
                    <a:cubicBezTo>
                      <a:pt x="902124" y="142180"/>
                      <a:pt x="853942" y="172939"/>
                      <a:pt x="799522" y="172939"/>
                    </a:cubicBezTo>
                    <a:cubicBezTo>
                      <a:pt x="799522" y="172939"/>
                      <a:pt x="799522" y="172939"/>
                      <a:pt x="799522" y="172939"/>
                    </a:cubicBezTo>
                    <a:cubicBezTo>
                      <a:pt x="744887" y="172939"/>
                      <a:pt x="696920" y="142180"/>
                      <a:pt x="673905" y="92708"/>
                    </a:cubicBezTo>
                    <a:cubicBezTo>
                      <a:pt x="655836" y="53775"/>
                      <a:pt x="617979" y="29469"/>
                      <a:pt x="574959" y="29469"/>
                    </a:cubicBezTo>
                    <a:cubicBezTo>
                      <a:pt x="531939" y="29469"/>
                      <a:pt x="494082" y="53775"/>
                      <a:pt x="476014" y="92708"/>
                    </a:cubicBezTo>
                    <a:cubicBezTo>
                      <a:pt x="452998" y="142180"/>
                      <a:pt x="405031" y="172939"/>
                      <a:pt x="350396" y="172939"/>
                    </a:cubicBezTo>
                    <a:cubicBezTo>
                      <a:pt x="295976" y="172939"/>
                      <a:pt x="247794" y="142180"/>
                      <a:pt x="224778" y="92708"/>
                    </a:cubicBezTo>
                    <a:cubicBezTo>
                      <a:pt x="206710" y="53775"/>
                      <a:pt x="168853" y="29469"/>
                      <a:pt x="125833" y="29469"/>
                    </a:cubicBezTo>
                    <a:cubicBezTo>
                      <a:pt x="82813" y="29469"/>
                      <a:pt x="44956" y="53775"/>
                      <a:pt x="26887" y="92708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268" y="30759"/>
                      <a:pt x="969235" y="0"/>
                      <a:pt x="1023870" y="0"/>
                    </a:cubicBezTo>
                    <a:cubicBezTo>
                      <a:pt x="1078505" y="0"/>
                      <a:pt x="1126472" y="30759"/>
                      <a:pt x="1149488" y="80232"/>
                    </a:cubicBezTo>
                    <a:cubicBezTo>
                      <a:pt x="1167556" y="119165"/>
                      <a:pt x="1205414" y="143471"/>
                      <a:pt x="1248433" y="143471"/>
                    </a:cubicBezTo>
                    <a:cubicBezTo>
                      <a:pt x="1291453" y="143471"/>
                      <a:pt x="1329311" y="119165"/>
                      <a:pt x="1347379" y="80232"/>
                    </a:cubicBezTo>
                    <a:cubicBezTo>
                      <a:pt x="1370394" y="30759"/>
                      <a:pt x="1418361" y="0"/>
                      <a:pt x="1472997" y="0"/>
                    </a:cubicBezTo>
                    <a:cubicBezTo>
                      <a:pt x="1527632" y="0"/>
                      <a:pt x="1575814" y="30759"/>
                      <a:pt x="1598614" y="80232"/>
                    </a:cubicBezTo>
                    <a:lnTo>
                      <a:pt x="1571942" y="92708"/>
                    </a:lnTo>
                    <a:cubicBezTo>
                      <a:pt x="1553874" y="53775"/>
                      <a:pt x="1515801" y="29469"/>
                      <a:pt x="1472997" y="29469"/>
                    </a:cubicBezTo>
                    <a:cubicBezTo>
                      <a:pt x="1429977" y="29469"/>
                      <a:pt x="1392119" y="53775"/>
                      <a:pt x="1374051" y="92708"/>
                    </a:cubicBezTo>
                    <a:cubicBezTo>
                      <a:pt x="1351251" y="142180"/>
                      <a:pt x="1303069" y="172939"/>
                      <a:pt x="1248648" y="172939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C7C124C6-B221-427F-ACA6-DFAC5A1608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1755501"/>
                <a:ext cx="1598829" cy="172724"/>
              </a:xfrm>
              <a:custGeom>
                <a:avLst/>
                <a:gdLst>
                  <a:gd name="connsiteX0" fmla="*/ 1248648 w 1598829"/>
                  <a:gd name="connsiteY0" fmla="*/ 172724 h 172724"/>
                  <a:gd name="connsiteX1" fmla="*/ 1123031 w 1598829"/>
                  <a:gd name="connsiteY1" fmla="*/ 92492 h 172724"/>
                  <a:gd name="connsiteX2" fmla="*/ 1024085 w 1598829"/>
                  <a:gd name="connsiteY2" fmla="*/ 29253 h 172724"/>
                  <a:gd name="connsiteX3" fmla="*/ 925140 w 1598829"/>
                  <a:gd name="connsiteY3" fmla="*/ 92492 h 172724"/>
                  <a:gd name="connsiteX4" fmla="*/ 799522 w 1598829"/>
                  <a:gd name="connsiteY4" fmla="*/ 172724 h 172724"/>
                  <a:gd name="connsiteX5" fmla="*/ 799522 w 1598829"/>
                  <a:gd name="connsiteY5" fmla="*/ 172724 h 172724"/>
                  <a:gd name="connsiteX6" fmla="*/ 673905 w 1598829"/>
                  <a:gd name="connsiteY6" fmla="*/ 92492 h 172724"/>
                  <a:gd name="connsiteX7" fmla="*/ 574959 w 1598829"/>
                  <a:gd name="connsiteY7" fmla="*/ 29253 h 172724"/>
                  <a:gd name="connsiteX8" fmla="*/ 476014 w 1598829"/>
                  <a:gd name="connsiteY8" fmla="*/ 92492 h 172724"/>
                  <a:gd name="connsiteX9" fmla="*/ 350396 w 1598829"/>
                  <a:gd name="connsiteY9" fmla="*/ 172724 h 172724"/>
                  <a:gd name="connsiteX10" fmla="*/ 224778 w 1598829"/>
                  <a:gd name="connsiteY10" fmla="*/ 92492 h 172724"/>
                  <a:gd name="connsiteX11" fmla="*/ 125833 w 1598829"/>
                  <a:gd name="connsiteY11" fmla="*/ 29253 h 172724"/>
                  <a:gd name="connsiteX12" fmla="*/ 26887 w 1598829"/>
                  <a:gd name="connsiteY12" fmla="*/ 92492 h 172724"/>
                  <a:gd name="connsiteX13" fmla="*/ 0 w 1598829"/>
                  <a:gd name="connsiteY13" fmla="*/ 80232 h 172724"/>
                  <a:gd name="connsiteX14" fmla="*/ 125618 w 1598829"/>
                  <a:gd name="connsiteY14" fmla="*/ 0 h 172724"/>
                  <a:gd name="connsiteX15" fmla="*/ 251235 w 1598829"/>
                  <a:gd name="connsiteY15" fmla="*/ 80232 h 172724"/>
                  <a:gd name="connsiteX16" fmla="*/ 350181 w 1598829"/>
                  <a:gd name="connsiteY16" fmla="*/ 143471 h 172724"/>
                  <a:gd name="connsiteX17" fmla="*/ 449126 w 1598829"/>
                  <a:gd name="connsiteY17" fmla="*/ 80232 h 172724"/>
                  <a:gd name="connsiteX18" fmla="*/ 574744 w 1598829"/>
                  <a:gd name="connsiteY18" fmla="*/ 0 h 172724"/>
                  <a:gd name="connsiteX19" fmla="*/ 700362 w 1598829"/>
                  <a:gd name="connsiteY19" fmla="*/ 80232 h 172724"/>
                  <a:gd name="connsiteX20" fmla="*/ 799307 w 1598829"/>
                  <a:gd name="connsiteY20" fmla="*/ 143471 h 172724"/>
                  <a:gd name="connsiteX21" fmla="*/ 799307 w 1598829"/>
                  <a:gd name="connsiteY21" fmla="*/ 143471 h 172724"/>
                  <a:gd name="connsiteX22" fmla="*/ 898253 w 1598829"/>
                  <a:gd name="connsiteY22" fmla="*/ 80232 h 172724"/>
                  <a:gd name="connsiteX23" fmla="*/ 1024085 w 1598829"/>
                  <a:gd name="connsiteY23" fmla="*/ 0 h 172724"/>
                  <a:gd name="connsiteX24" fmla="*/ 1149703 w 1598829"/>
                  <a:gd name="connsiteY24" fmla="*/ 80232 h 172724"/>
                  <a:gd name="connsiteX25" fmla="*/ 1248648 w 1598829"/>
                  <a:gd name="connsiteY25" fmla="*/ 143471 h 172724"/>
                  <a:gd name="connsiteX26" fmla="*/ 1347594 w 1598829"/>
                  <a:gd name="connsiteY26" fmla="*/ 80232 h 172724"/>
                  <a:gd name="connsiteX27" fmla="*/ 1473212 w 1598829"/>
                  <a:gd name="connsiteY27" fmla="*/ 0 h 172724"/>
                  <a:gd name="connsiteX28" fmla="*/ 1598829 w 1598829"/>
                  <a:gd name="connsiteY28" fmla="*/ 80232 h 172724"/>
                  <a:gd name="connsiteX29" fmla="*/ 1572157 w 1598829"/>
                  <a:gd name="connsiteY29" fmla="*/ 92492 h 172724"/>
                  <a:gd name="connsiteX30" fmla="*/ 1473212 w 1598829"/>
                  <a:gd name="connsiteY30" fmla="*/ 29253 h 172724"/>
                  <a:gd name="connsiteX31" fmla="*/ 1374266 w 1598829"/>
                  <a:gd name="connsiteY31" fmla="*/ 92492 h 172724"/>
                  <a:gd name="connsiteX32" fmla="*/ 1248648 w 1598829"/>
                  <a:gd name="connsiteY32" fmla="*/ 172724 h 17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829" h="172724">
                    <a:moveTo>
                      <a:pt x="1248648" y="172724"/>
                    </a:moveTo>
                    <a:cubicBezTo>
                      <a:pt x="1194229" y="172724"/>
                      <a:pt x="1146046" y="141965"/>
                      <a:pt x="1123031" y="92492"/>
                    </a:cubicBezTo>
                    <a:cubicBezTo>
                      <a:pt x="1104962" y="53560"/>
                      <a:pt x="1067105" y="29253"/>
                      <a:pt x="1024085" y="29253"/>
                    </a:cubicBezTo>
                    <a:cubicBezTo>
                      <a:pt x="981066" y="29253"/>
                      <a:pt x="943208" y="53560"/>
                      <a:pt x="925140" y="92492"/>
                    </a:cubicBezTo>
                    <a:cubicBezTo>
                      <a:pt x="902124" y="141965"/>
                      <a:pt x="853942" y="172724"/>
                      <a:pt x="799522" y="172724"/>
                    </a:cubicBezTo>
                    <a:cubicBezTo>
                      <a:pt x="799522" y="172724"/>
                      <a:pt x="799522" y="172724"/>
                      <a:pt x="799522" y="172724"/>
                    </a:cubicBezTo>
                    <a:cubicBezTo>
                      <a:pt x="744887" y="172724"/>
                      <a:pt x="696920" y="141965"/>
                      <a:pt x="673905" y="92492"/>
                    </a:cubicBezTo>
                    <a:cubicBezTo>
                      <a:pt x="655836" y="53560"/>
                      <a:pt x="617979" y="29253"/>
                      <a:pt x="574959" y="29253"/>
                    </a:cubicBezTo>
                    <a:cubicBezTo>
                      <a:pt x="531939" y="29253"/>
                      <a:pt x="494082" y="53560"/>
                      <a:pt x="476014" y="92492"/>
                    </a:cubicBezTo>
                    <a:cubicBezTo>
                      <a:pt x="452998" y="141965"/>
                      <a:pt x="405031" y="172724"/>
                      <a:pt x="350396" y="172724"/>
                    </a:cubicBezTo>
                    <a:cubicBezTo>
                      <a:pt x="295976" y="172724"/>
                      <a:pt x="247794" y="141965"/>
                      <a:pt x="224778" y="92492"/>
                    </a:cubicBezTo>
                    <a:cubicBezTo>
                      <a:pt x="206710" y="53560"/>
                      <a:pt x="168853" y="29253"/>
                      <a:pt x="125833" y="29253"/>
                    </a:cubicBezTo>
                    <a:cubicBezTo>
                      <a:pt x="82813" y="29253"/>
                      <a:pt x="44956" y="53560"/>
                      <a:pt x="26887" y="92492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483" y="30759"/>
                      <a:pt x="969450" y="0"/>
                      <a:pt x="1024085" y="0"/>
                    </a:cubicBezTo>
                    <a:cubicBezTo>
                      <a:pt x="1078720" y="0"/>
                      <a:pt x="1126688" y="30759"/>
                      <a:pt x="1149703" y="80232"/>
                    </a:cubicBezTo>
                    <a:cubicBezTo>
                      <a:pt x="1167771" y="119165"/>
                      <a:pt x="1205629" y="143471"/>
                      <a:pt x="1248648" y="143471"/>
                    </a:cubicBezTo>
                    <a:cubicBezTo>
                      <a:pt x="1291668" y="143471"/>
                      <a:pt x="1329526" y="119165"/>
                      <a:pt x="1347594" y="80232"/>
                    </a:cubicBezTo>
                    <a:cubicBezTo>
                      <a:pt x="1370610" y="30759"/>
                      <a:pt x="1418792" y="0"/>
                      <a:pt x="1473212" y="0"/>
                    </a:cubicBezTo>
                    <a:cubicBezTo>
                      <a:pt x="1527847" y="0"/>
                      <a:pt x="1576029" y="30759"/>
                      <a:pt x="1598829" y="80232"/>
                    </a:cubicBezTo>
                    <a:lnTo>
                      <a:pt x="1572157" y="92492"/>
                    </a:lnTo>
                    <a:cubicBezTo>
                      <a:pt x="1554089" y="53560"/>
                      <a:pt x="1516016" y="29253"/>
                      <a:pt x="1473212" y="29253"/>
                    </a:cubicBezTo>
                    <a:cubicBezTo>
                      <a:pt x="1430192" y="29253"/>
                      <a:pt x="1392335" y="53560"/>
                      <a:pt x="1374266" y="92492"/>
                    </a:cubicBezTo>
                    <a:cubicBezTo>
                      <a:pt x="1351251" y="141965"/>
                      <a:pt x="1303069" y="172724"/>
                      <a:pt x="1248648" y="172724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7" name="Graphic 190">
              <a:extLst>
                <a:ext uri="{FF2B5EF4-FFF2-40B4-BE49-F238E27FC236}">
                  <a16:creationId xmlns:a16="http://schemas.microsoft.com/office/drawing/2014/main" id="{93B7F476-C9DD-4DD5-94E6-FD75C5412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491531" y="1420258"/>
              <a:ext cx="1598829" cy="531293"/>
              <a:chOff x="2504802" y="1755501"/>
              <a:chExt cx="1598829" cy="531293"/>
            </a:xfrm>
            <a:grpFill/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CF04B155-0292-44AA-B2FB-2CD2612FAC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2113855"/>
                <a:ext cx="1598614" cy="172939"/>
              </a:xfrm>
              <a:custGeom>
                <a:avLst/>
                <a:gdLst>
                  <a:gd name="connsiteX0" fmla="*/ 1248648 w 1598614"/>
                  <a:gd name="connsiteY0" fmla="*/ 172939 h 172939"/>
                  <a:gd name="connsiteX1" fmla="*/ 1123031 w 1598614"/>
                  <a:gd name="connsiteY1" fmla="*/ 92708 h 172939"/>
                  <a:gd name="connsiteX2" fmla="*/ 1024085 w 1598614"/>
                  <a:gd name="connsiteY2" fmla="*/ 29469 h 172939"/>
                  <a:gd name="connsiteX3" fmla="*/ 925140 w 1598614"/>
                  <a:gd name="connsiteY3" fmla="*/ 92708 h 172939"/>
                  <a:gd name="connsiteX4" fmla="*/ 799522 w 1598614"/>
                  <a:gd name="connsiteY4" fmla="*/ 172939 h 172939"/>
                  <a:gd name="connsiteX5" fmla="*/ 799522 w 1598614"/>
                  <a:gd name="connsiteY5" fmla="*/ 172939 h 172939"/>
                  <a:gd name="connsiteX6" fmla="*/ 673905 w 1598614"/>
                  <a:gd name="connsiteY6" fmla="*/ 92708 h 172939"/>
                  <a:gd name="connsiteX7" fmla="*/ 574959 w 1598614"/>
                  <a:gd name="connsiteY7" fmla="*/ 29469 h 172939"/>
                  <a:gd name="connsiteX8" fmla="*/ 476014 w 1598614"/>
                  <a:gd name="connsiteY8" fmla="*/ 92708 h 172939"/>
                  <a:gd name="connsiteX9" fmla="*/ 350396 w 1598614"/>
                  <a:gd name="connsiteY9" fmla="*/ 172939 h 172939"/>
                  <a:gd name="connsiteX10" fmla="*/ 224778 w 1598614"/>
                  <a:gd name="connsiteY10" fmla="*/ 92708 h 172939"/>
                  <a:gd name="connsiteX11" fmla="*/ 125833 w 1598614"/>
                  <a:gd name="connsiteY11" fmla="*/ 29469 h 172939"/>
                  <a:gd name="connsiteX12" fmla="*/ 26887 w 1598614"/>
                  <a:gd name="connsiteY12" fmla="*/ 92708 h 172939"/>
                  <a:gd name="connsiteX13" fmla="*/ 0 w 1598614"/>
                  <a:gd name="connsiteY13" fmla="*/ 80232 h 172939"/>
                  <a:gd name="connsiteX14" fmla="*/ 125618 w 1598614"/>
                  <a:gd name="connsiteY14" fmla="*/ 0 h 172939"/>
                  <a:gd name="connsiteX15" fmla="*/ 251235 w 1598614"/>
                  <a:gd name="connsiteY15" fmla="*/ 80232 h 172939"/>
                  <a:gd name="connsiteX16" fmla="*/ 350181 w 1598614"/>
                  <a:gd name="connsiteY16" fmla="*/ 143471 h 172939"/>
                  <a:gd name="connsiteX17" fmla="*/ 449126 w 1598614"/>
                  <a:gd name="connsiteY17" fmla="*/ 80232 h 172939"/>
                  <a:gd name="connsiteX18" fmla="*/ 574744 w 1598614"/>
                  <a:gd name="connsiteY18" fmla="*/ 0 h 172939"/>
                  <a:gd name="connsiteX19" fmla="*/ 700362 w 1598614"/>
                  <a:gd name="connsiteY19" fmla="*/ 80232 h 172939"/>
                  <a:gd name="connsiteX20" fmla="*/ 799307 w 1598614"/>
                  <a:gd name="connsiteY20" fmla="*/ 143471 h 172939"/>
                  <a:gd name="connsiteX21" fmla="*/ 799307 w 1598614"/>
                  <a:gd name="connsiteY21" fmla="*/ 143471 h 172939"/>
                  <a:gd name="connsiteX22" fmla="*/ 898253 w 1598614"/>
                  <a:gd name="connsiteY22" fmla="*/ 80232 h 172939"/>
                  <a:gd name="connsiteX23" fmla="*/ 1023870 w 1598614"/>
                  <a:gd name="connsiteY23" fmla="*/ 0 h 172939"/>
                  <a:gd name="connsiteX24" fmla="*/ 1149488 w 1598614"/>
                  <a:gd name="connsiteY24" fmla="*/ 80232 h 172939"/>
                  <a:gd name="connsiteX25" fmla="*/ 1248433 w 1598614"/>
                  <a:gd name="connsiteY25" fmla="*/ 143471 h 172939"/>
                  <a:gd name="connsiteX26" fmla="*/ 1347379 w 1598614"/>
                  <a:gd name="connsiteY26" fmla="*/ 80232 h 172939"/>
                  <a:gd name="connsiteX27" fmla="*/ 1472997 w 1598614"/>
                  <a:gd name="connsiteY27" fmla="*/ 0 h 172939"/>
                  <a:gd name="connsiteX28" fmla="*/ 1598614 w 1598614"/>
                  <a:gd name="connsiteY28" fmla="*/ 80232 h 172939"/>
                  <a:gd name="connsiteX29" fmla="*/ 1571942 w 1598614"/>
                  <a:gd name="connsiteY29" fmla="*/ 92708 h 172939"/>
                  <a:gd name="connsiteX30" fmla="*/ 1472997 w 1598614"/>
                  <a:gd name="connsiteY30" fmla="*/ 29469 h 172939"/>
                  <a:gd name="connsiteX31" fmla="*/ 1374051 w 1598614"/>
                  <a:gd name="connsiteY31" fmla="*/ 92708 h 172939"/>
                  <a:gd name="connsiteX32" fmla="*/ 1248648 w 1598614"/>
                  <a:gd name="connsiteY32" fmla="*/ 172939 h 172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614" h="172939">
                    <a:moveTo>
                      <a:pt x="1248648" y="172939"/>
                    </a:moveTo>
                    <a:cubicBezTo>
                      <a:pt x="1194229" y="172939"/>
                      <a:pt x="1146046" y="142180"/>
                      <a:pt x="1123031" y="92708"/>
                    </a:cubicBezTo>
                    <a:cubicBezTo>
                      <a:pt x="1104962" y="53775"/>
                      <a:pt x="1067105" y="29469"/>
                      <a:pt x="1024085" y="29469"/>
                    </a:cubicBezTo>
                    <a:cubicBezTo>
                      <a:pt x="981066" y="29469"/>
                      <a:pt x="943208" y="53775"/>
                      <a:pt x="925140" y="92708"/>
                    </a:cubicBezTo>
                    <a:cubicBezTo>
                      <a:pt x="902124" y="142180"/>
                      <a:pt x="853942" y="172939"/>
                      <a:pt x="799522" y="172939"/>
                    </a:cubicBezTo>
                    <a:cubicBezTo>
                      <a:pt x="799522" y="172939"/>
                      <a:pt x="799522" y="172939"/>
                      <a:pt x="799522" y="172939"/>
                    </a:cubicBezTo>
                    <a:cubicBezTo>
                      <a:pt x="744887" y="172939"/>
                      <a:pt x="696920" y="142180"/>
                      <a:pt x="673905" y="92708"/>
                    </a:cubicBezTo>
                    <a:cubicBezTo>
                      <a:pt x="655836" y="53775"/>
                      <a:pt x="617979" y="29469"/>
                      <a:pt x="574959" y="29469"/>
                    </a:cubicBezTo>
                    <a:cubicBezTo>
                      <a:pt x="531939" y="29469"/>
                      <a:pt x="494082" y="53775"/>
                      <a:pt x="476014" y="92708"/>
                    </a:cubicBezTo>
                    <a:cubicBezTo>
                      <a:pt x="452998" y="142180"/>
                      <a:pt x="405031" y="172939"/>
                      <a:pt x="350396" y="172939"/>
                    </a:cubicBezTo>
                    <a:cubicBezTo>
                      <a:pt x="295976" y="172939"/>
                      <a:pt x="247794" y="142180"/>
                      <a:pt x="224778" y="92708"/>
                    </a:cubicBezTo>
                    <a:cubicBezTo>
                      <a:pt x="206710" y="53775"/>
                      <a:pt x="168853" y="29469"/>
                      <a:pt x="125833" y="29469"/>
                    </a:cubicBezTo>
                    <a:cubicBezTo>
                      <a:pt x="82813" y="29469"/>
                      <a:pt x="44956" y="53775"/>
                      <a:pt x="26887" y="92708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268" y="30759"/>
                      <a:pt x="969235" y="0"/>
                      <a:pt x="1023870" y="0"/>
                    </a:cubicBezTo>
                    <a:cubicBezTo>
                      <a:pt x="1078505" y="0"/>
                      <a:pt x="1126472" y="30759"/>
                      <a:pt x="1149488" y="80232"/>
                    </a:cubicBezTo>
                    <a:cubicBezTo>
                      <a:pt x="1167556" y="119165"/>
                      <a:pt x="1205414" y="143471"/>
                      <a:pt x="1248433" y="143471"/>
                    </a:cubicBezTo>
                    <a:cubicBezTo>
                      <a:pt x="1291453" y="143471"/>
                      <a:pt x="1329311" y="119165"/>
                      <a:pt x="1347379" y="80232"/>
                    </a:cubicBezTo>
                    <a:cubicBezTo>
                      <a:pt x="1370394" y="30759"/>
                      <a:pt x="1418361" y="0"/>
                      <a:pt x="1472997" y="0"/>
                    </a:cubicBezTo>
                    <a:cubicBezTo>
                      <a:pt x="1527632" y="0"/>
                      <a:pt x="1575814" y="30759"/>
                      <a:pt x="1598614" y="80232"/>
                    </a:cubicBezTo>
                    <a:lnTo>
                      <a:pt x="1571942" y="92708"/>
                    </a:lnTo>
                    <a:cubicBezTo>
                      <a:pt x="1553874" y="53775"/>
                      <a:pt x="1515801" y="29469"/>
                      <a:pt x="1472997" y="29469"/>
                    </a:cubicBezTo>
                    <a:cubicBezTo>
                      <a:pt x="1429977" y="29469"/>
                      <a:pt x="1392119" y="53775"/>
                      <a:pt x="1374051" y="92708"/>
                    </a:cubicBezTo>
                    <a:cubicBezTo>
                      <a:pt x="1351251" y="142180"/>
                      <a:pt x="1303069" y="172939"/>
                      <a:pt x="1248648" y="172939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76E3AECF-0782-4578-957B-CDD69EDF6A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1755501"/>
                <a:ext cx="1598829" cy="172724"/>
              </a:xfrm>
              <a:custGeom>
                <a:avLst/>
                <a:gdLst>
                  <a:gd name="connsiteX0" fmla="*/ 1248648 w 1598829"/>
                  <a:gd name="connsiteY0" fmla="*/ 172724 h 172724"/>
                  <a:gd name="connsiteX1" fmla="*/ 1123031 w 1598829"/>
                  <a:gd name="connsiteY1" fmla="*/ 92492 h 172724"/>
                  <a:gd name="connsiteX2" fmla="*/ 1024085 w 1598829"/>
                  <a:gd name="connsiteY2" fmla="*/ 29253 h 172724"/>
                  <a:gd name="connsiteX3" fmla="*/ 925140 w 1598829"/>
                  <a:gd name="connsiteY3" fmla="*/ 92492 h 172724"/>
                  <a:gd name="connsiteX4" fmla="*/ 799522 w 1598829"/>
                  <a:gd name="connsiteY4" fmla="*/ 172724 h 172724"/>
                  <a:gd name="connsiteX5" fmla="*/ 799522 w 1598829"/>
                  <a:gd name="connsiteY5" fmla="*/ 172724 h 172724"/>
                  <a:gd name="connsiteX6" fmla="*/ 673905 w 1598829"/>
                  <a:gd name="connsiteY6" fmla="*/ 92492 h 172724"/>
                  <a:gd name="connsiteX7" fmla="*/ 574959 w 1598829"/>
                  <a:gd name="connsiteY7" fmla="*/ 29253 h 172724"/>
                  <a:gd name="connsiteX8" fmla="*/ 476014 w 1598829"/>
                  <a:gd name="connsiteY8" fmla="*/ 92492 h 172724"/>
                  <a:gd name="connsiteX9" fmla="*/ 350396 w 1598829"/>
                  <a:gd name="connsiteY9" fmla="*/ 172724 h 172724"/>
                  <a:gd name="connsiteX10" fmla="*/ 224778 w 1598829"/>
                  <a:gd name="connsiteY10" fmla="*/ 92492 h 172724"/>
                  <a:gd name="connsiteX11" fmla="*/ 125833 w 1598829"/>
                  <a:gd name="connsiteY11" fmla="*/ 29253 h 172724"/>
                  <a:gd name="connsiteX12" fmla="*/ 26887 w 1598829"/>
                  <a:gd name="connsiteY12" fmla="*/ 92492 h 172724"/>
                  <a:gd name="connsiteX13" fmla="*/ 0 w 1598829"/>
                  <a:gd name="connsiteY13" fmla="*/ 80232 h 172724"/>
                  <a:gd name="connsiteX14" fmla="*/ 125618 w 1598829"/>
                  <a:gd name="connsiteY14" fmla="*/ 0 h 172724"/>
                  <a:gd name="connsiteX15" fmla="*/ 251235 w 1598829"/>
                  <a:gd name="connsiteY15" fmla="*/ 80232 h 172724"/>
                  <a:gd name="connsiteX16" fmla="*/ 350181 w 1598829"/>
                  <a:gd name="connsiteY16" fmla="*/ 143471 h 172724"/>
                  <a:gd name="connsiteX17" fmla="*/ 449126 w 1598829"/>
                  <a:gd name="connsiteY17" fmla="*/ 80232 h 172724"/>
                  <a:gd name="connsiteX18" fmla="*/ 574744 w 1598829"/>
                  <a:gd name="connsiteY18" fmla="*/ 0 h 172724"/>
                  <a:gd name="connsiteX19" fmla="*/ 700362 w 1598829"/>
                  <a:gd name="connsiteY19" fmla="*/ 80232 h 172724"/>
                  <a:gd name="connsiteX20" fmla="*/ 799307 w 1598829"/>
                  <a:gd name="connsiteY20" fmla="*/ 143471 h 172724"/>
                  <a:gd name="connsiteX21" fmla="*/ 799307 w 1598829"/>
                  <a:gd name="connsiteY21" fmla="*/ 143471 h 172724"/>
                  <a:gd name="connsiteX22" fmla="*/ 898253 w 1598829"/>
                  <a:gd name="connsiteY22" fmla="*/ 80232 h 172724"/>
                  <a:gd name="connsiteX23" fmla="*/ 1024085 w 1598829"/>
                  <a:gd name="connsiteY23" fmla="*/ 0 h 172724"/>
                  <a:gd name="connsiteX24" fmla="*/ 1149703 w 1598829"/>
                  <a:gd name="connsiteY24" fmla="*/ 80232 h 172724"/>
                  <a:gd name="connsiteX25" fmla="*/ 1248648 w 1598829"/>
                  <a:gd name="connsiteY25" fmla="*/ 143471 h 172724"/>
                  <a:gd name="connsiteX26" fmla="*/ 1347594 w 1598829"/>
                  <a:gd name="connsiteY26" fmla="*/ 80232 h 172724"/>
                  <a:gd name="connsiteX27" fmla="*/ 1473212 w 1598829"/>
                  <a:gd name="connsiteY27" fmla="*/ 0 h 172724"/>
                  <a:gd name="connsiteX28" fmla="*/ 1598829 w 1598829"/>
                  <a:gd name="connsiteY28" fmla="*/ 80232 h 172724"/>
                  <a:gd name="connsiteX29" fmla="*/ 1572157 w 1598829"/>
                  <a:gd name="connsiteY29" fmla="*/ 92492 h 172724"/>
                  <a:gd name="connsiteX30" fmla="*/ 1473212 w 1598829"/>
                  <a:gd name="connsiteY30" fmla="*/ 29253 h 172724"/>
                  <a:gd name="connsiteX31" fmla="*/ 1374266 w 1598829"/>
                  <a:gd name="connsiteY31" fmla="*/ 92492 h 172724"/>
                  <a:gd name="connsiteX32" fmla="*/ 1248648 w 1598829"/>
                  <a:gd name="connsiteY32" fmla="*/ 172724 h 17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829" h="172724">
                    <a:moveTo>
                      <a:pt x="1248648" y="172724"/>
                    </a:moveTo>
                    <a:cubicBezTo>
                      <a:pt x="1194229" y="172724"/>
                      <a:pt x="1146046" y="141965"/>
                      <a:pt x="1123031" y="92492"/>
                    </a:cubicBezTo>
                    <a:cubicBezTo>
                      <a:pt x="1104962" y="53560"/>
                      <a:pt x="1067105" y="29253"/>
                      <a:pt x="1024085" y="29253"/>
                    </a:cubicBezTo>
                    <a:cubicBezTo>
                      <a:pt x="981066" y="29253"/>
                      <a:pt x="943208" y="53560"/>
                      <a:pt x="925140" y="92492"/>
                    </a:cubicBezTo>
                    <a:cubicBezTo>
                      <a:pt x="902124" y="141965"/>
                      <a:pt x="853942" y="172724"/>
                      <a:pt x="799522" y="172724"/>
                    </a:cubicBezTo>
                    <a:cubicBezTo>
                      <a:pt x="799522" y="172724"/>
                      <a:pt x="799522" y="172724"/>
                      <a:pt x="799522" y="172724"/>
                    </a:cubicBezTo>
                    <a:cubicBezTo>
                      <a:pt x="744887" y="172724"/>
                      <a:pt x="696920" y="141965"/>
                      <a:pt x="673905" y="92492"/>
                    </a:cubicBezTo>
                    <a:cubicBezTo>
                      <a:pt x="655836" y="53560"/>
                      <a:pt x="617979" y="29253"/>
                      <a:pt x="574959" y="29253"/>
                    </a:cubicBezTo>
                    <a:cubicBezTo>
                      <a:pt x="531939" y="29253"/>
                      <a:pt x="494082" y="53560"/>
                      <a:pt x="476014" y="92492"/>
                    </a:cubicBezTo>
                    <a:cubicBezTo>
                      <a:pt x="452998" y="141965"/>
                      <a:pt x="405031" y="172724"/>
                      <a:pt x="350396" y="172724"/>
                    </a:cubicBezTo>
                    <a:cubicBezTo>
                      <a:pt x="295976" y="172724"/>
                      <a:pt x="247794" y="141965"/>
                      <a:pt x="224778" y="92492"/>
                    </a:cubicBezTo>
                    <a:cubicBezTo>
                      <a:pt x="206710" y="53560"/>
                      <a:pt x="168853" y="29253"/>
                      <a:pt x="125833" y="29253"/>
                    </a:cubicBezTo>
                    <a:cubicBezTo>
                      <a:pt x="82813" y="29253"/>
                      <a:pt x="44956" y="53560"/>
                      <a:pt x="26887" y="92492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483" y="30759"/>
                      <a:pt x="969450" y="0"/>
                      <a:pt x="1024085" y="0"/>
                    </a:cubicBezTo>
                    <a:cubicBezTo>
                      <a:pt x="1078720" y="0"/>
                      <a:pt x="1126688" y="30759"/>
                      <a:pt x="1149703" y="80232"/>
                    </a:cubicBezTo>
                    <a:cubicBezTo>
                      <a:pt x="1167771" y="119165"/>
                      <a:pt x="1205629" y="143471"/>
                      <a:pt x="1248648" y="143471"/>
                    </a:cubicBezTo>
                    <a:cubicBezTo>
                      <a:pt x="1291668" y="143471"/>
                      <a:pt x="1329526" y="119165"/>
                      <a:pt x="1347594" y="80232"/>
                    </a:cubicBezTo>
                    <a:cubicBezTo>
                      <a:pt x="1370610" y="30759"/>
                      <a:pt x="1418792" y="0"/>
                      <a:pt x="1473212" y="0"/>
                    </a:cubicBezTo>
                    <a:cubicBezTo>
                      <a:pt x="1527847" y="0"/>
                      <a:pt x="1576029" y="30759"/>
                      <a:pt x="1598829" y="80232"/>
                    </a:cubicBezTo>
                    <a:lnTo>
                      <a:pt x="1572157" y="92492"/>
                    </a:lnTo>
                    <a:cubicBezTo>
                      <a:pt x="1554089" y="53560"/>
                      <a:pt x="1516016" y="29253"/>
                      <a:pt x="1473212" y="29253"/>
                    </a:cubicBezTo>
                    <a:cubicBezTo>
                      <a:pt x="1430192" y="29253"/>
                      <a:pt x="1392335" y="53560"/>
                      <a:pt x="1374266" y="92492"/>
                    </a:cubicBezTo>
                    <a:cubicBezTo>
                      <a:pt x="1351251" y="141965"/>
                      <a:pt x="1303069" y="172724"/>
                      <a:pt x="1248648" y="172724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70AAE9F-D40D-4A06-A542-AB26D8AB9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6676" y="4575280"/>
            <a:ext cx="1781105" cy="1781136"/>
            <a:chOff x="10154385" y="4452524"/>
            <a:chExt cx="1443404" cy="1443428"/>
          </a:xfrm>
          <a:solidFill>
            <a:schemeClr val="bg1"/>
          </a:solidFill>
        </p:grpSpPr>
        <p:grpSp>
          <p:nvGrpSpPr>
            <p:cNvPr id="24" name="Graphic 4">
              <a:extLst>
                <a:ext uri="{FF2B5EF4-FFF2-40B4-BE49-F238E27FC236}">
                  <a16:creationId xmlns:a16="http://schemas.microsoft.com/office/drawing/2014/main" id="{E2BD3D1E-8A78-4CA8-A862-614FD75BD9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0154385" y="4452524"/>
              <a:ext cx="1443404" cy="1443428"/>
              <a:chOff x="5734037" y="3067039"/>
              <a:chExt cx="724483" cy="724489"/>
            </a:xfrm>
            <a:grpFill/>
          </p:grpSpPr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27EF3C4D-D9EE-433E-A50B-6D1B1A4E1B2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067039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FC4F4B86-B0F5-45AB-974A-ED0CF803801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1ABCCAB6-2C8F-45DC-A8D3-12AE864BCF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B77B7A98-FF5E-4AE2-AA18-F9CD647D24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1BEEA99B-FA00-47DF-A8C6-42E565ACBA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9A3073AA-0C95-49D3-ABEB-360AC0DA78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ADDC6101-D1BA-45AD-975E-6D22FBBC8A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7F7FF84E-A790-449D-A30F-A2B32897BB7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26284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BFAC3AB9-2115-4ABC-8F2B-669140D4BA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2628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12209916-8238-47D3-8470-C3B6748DE3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342C4170-32C9-45C4-9A3E-3B9DFBDAB5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252EA0E9-92FF-4BC7-B847-6782E38D96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C5C774B-5471-455E-9173-6114DFF3ED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12628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8 w 14097"/>
                  <a:gd name="connsiteY1" fmla="*/ 14097 h 14097"/>
                  <a:gd name="connsiteX2" fmla="*/ 0 w 14097"/>
                  <a:gd name="connsiteY2" fmla="*/ 7049 h 14097"/>
                  <a:gd name="connsiteX3" fmla="*/ 7048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F8A27BFB-E943-4C45-BFA2-B1FB44802D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E10E74B4-0649-4165-A42B-5188136CB2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8543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285DD857-084E-445B-9D21-3DDF484AE3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858EAED4-7030-4F02-8735-86B2D41F00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FD206B85-4DBA-4A1C-BE5E-9AC09D3E85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A9828E4E-D18A-4EB3-AA0E-6A694BAA60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242BFF0C-9960-4037-8875-982CC6AB3B0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FDC46289-4813-4C66-B74D-DA89EB5C7A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DD12BBDD-E5E4-4866-BA7D-575AA15AFA2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24467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CC7933B6-91C1-49F7-A1D2-E4C9264C71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244677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80F77AE0-80D0-441D-8610-15A87072DB2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369F67A5-04FD-4DC3-B5FE-E293F1D8FF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7D2FE5A5-00D9-4B46-B9C0-DF029A2137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77863FE7-D2C9-4943-8569-6BF49B87CC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24467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A0020B1F-76BE-46B2-8D5F-A8BD90E97B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ABB9081A-5442-44FE-B224-BDBCB08C9B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0382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F93E179E-A593-4559-96EE-A0B232C5E1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34DF0844-A707-4E91-9663-D229B49F5B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C2450B49-EEBA-44E1-A402-CDDFAA21BC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A588BB7B-0B7E-44B5-BFD9-EA98377B0B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69A29819-A120-4DE3-9885-6C9ABDEBF91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5A47B4D1-A1E7-440C-9756-62F1319981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6E37264B-D746-4A84-A8D8-C8BB60C5F4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63074"/>
                <a:ext cx="14192" cy="14097"/>
              </a:xfrm>
              <a:custGeom>
                <a:avLst/>
                <a:gdLst>
                  <a:gd name="connsiteX0" fmla="*/ 14192 w 14192"/>
                  <a:gd name="connsiteY0" fmla="*/ 7048 h 14097"/>
                  <a:gd name="connsiteX1" fmla="*/ 7144 w 14192"/>
                  <a:gd name="connsiteY1" fmla="*/ 14097 h 14097"/>
                  <a:gd name="connsiteX2" fmla="*/ 0 w 14192"/>
                  <a:gd name="connsiteY2" fmla="*/ 7048 h 14097"/>
                  <a:gd name="connsiteX3" fmla="*/ 7049 w 14192"/>
                  <a:gd name="connsiteY3" fmla="*/ 0 h 14097"/>
                  <a:gd name="connsiteX4" fmla="*/ 14192 w 14192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4A6A55C8-81FC-4BC1-8D9D-989098291E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25BEED62-890A-4F76-8976-0806912852D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CEDB6363-D238-497C-9F62-70C37943788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E8AE52A3-EEF4-4363-8348-F0193090BD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42E43346-6294-4571-8009-00559220AA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63074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8 w 14097"/>
                  <a:gd name="connsiteY1" fmla="*/ 14097 h 14097"/>
                  <a:gd name="connsiteX2" fmla="*/ 0 w 14097"/>
                  <a:gd name="connsiteY2" fmla="*/ 7048 h 14097"/>
                  <a:gd name="connsiteX3" fmla="*/ 7048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4C9FF21F-0A57-48BD-AFA2-812BDA4AE14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92CE44D1-4355-4EA0-85D9-46B2BD634E2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2222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E05932D9-8C08-487C-BE8D-CE8D90DBE2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1956F062-CFDF-41C0-BF81-910A593926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6EE30713-2557-4E2C-B23E-A4335296BD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713ADC1F-8ACA-4FC6-923D-A7D07F151E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9516A6B3-73B6-4736-BAD3-1BA9B19BBD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66C9B3A2-34F8-463A-8F26-2DB41BC486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D2681A1B-C5B4-4180-B839-F42F15609F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6953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09B73E73-CAF5-466C-B476-F442DA3F69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47DE2FFA-2AEC-4E3C-9BB5-0B4FA9B13C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9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707A7E41-23E9-4C4C-8C40-86AC4A286A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E0EEF3BF-23B8-4558-9496-3FBC0D450F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F23B0DE3-79D7-4B51-AA85-1D78E1D125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66A6C48D-B42A-4213-967E-3F0F31F368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26281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460D8262-916E-4A41-9DA7-0416B07C170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BDA74C8E-A290-4214-9CDC-7C81E2D300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06F0FC8C-B053-49A4-85D1-D02E6ACC09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EF6E20D1-B75B-4109-9863-CDF7D7B9C4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CD825563-95D0-4AF8-B76F-C3D9E5B85ED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2628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E4808768-DD68-41FD-B6C9-92A21F8568F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85433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5443C4E4-B94D-4A0F-91E2-EAEEE4333B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A7BE49C3-DF3E-40D7-AA79-31FF796D8E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296FD384-B102-4DC5-B7F8-C9CFCAFEF2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761B0F50-29B0-4715-89EA-3D67D66E99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02EE7645-22B2-4AE6-BE83-268CF9FA94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85432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0FCB045A-2D48-4F00-9BBE-AE4801A711C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244676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64C1897B-BBF3-4B8D-9EFD-B58FB97AD6E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8F33C9FF-51FD-4E01-A7D6-DA07904BC0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1038A907-28E4-4AC5-A3DF-03B30DDB2D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E3BE620C-6DA4-4783-88DF-F2554F8E70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215C33E5-3C0F-413D-955F-910161E8B1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24467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D326348F-BB03-4656-B017-00439FE3EC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20055F29-A753-4AFE-AF14-DFDE3DE48E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657EA5FB-E669-4025-9D5B-6DF78AE480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CBD49CA9-1E94-44AC-B174-9A93372738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558FC163-7C80-4AC8-87B6-AD07A9631F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FB938ED2-0548-468C-AB68-669B0C1572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4B558214-CC40-4472-A55E-779E4D2ADBD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9FA37504-C92A-4150-9A6B-9B980E25CC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F932921F-34B0-4977-B152-3334098832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CAA972F9-99BB-44A2-8161-84EC4C4E1B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B070033F-E82A-4F69-8BE0-33B88CB6C4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5B8CB3D3-5CC3-46BA-B938-EFE5283D5C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63074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C4515117-6988-4803-B47E-D964DC19FE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0FFD108F-3434-4F6A-B5DF-B216E81021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A74122B8-F9B6-4E3A-81B2-48070B698FE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8CCA48B6-1BF9-443C-B83F-BA73DC92E7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BF6BF308-DD11-454B-9506-CB8767656D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FD69DFD3-74B3-4FFE-A6B0-2785452F6F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4222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70235D33-B714-484D-A828-A1C2B9DA2D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81374"/>
                <a:ext cx="14192" cy="14096"/>
              </a:xfrm>
              <a:custGeom>
                <a:avLst/>
                <a:gdLst>
                  <a:gd name="connsiteX0" fmla="*/ 14192 w 14192"/>
                  <a:gd name="connsiteY0" fmla="*/ 7049 h 14096"/>
                  <a:gd name="connsiteX1" fmla="*/ 7144 w 14192"/>
                  <a:gd name="connsiteY1" fmla="*/ 14097 h 14096"/>
                  <a:gd name="connsiteX2" fmla="*/ 0 w 14192"/>
                  <a:gd name="connsiteY2" fmla="*/ 7049 h 14096"/>
                  <a:gd name="connsiteX3" fmla="*/ 7049 w 14192"/>
                  <a:gd name="connsiteY3" fmla="*/ 0 h 14096"/>
                  <a:gd name="connsiteX4" fmla="*/ 14192 w 14192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1049"/>
                      <a:pt x="0" y="7049"/>
                    </a:cubicBezTo>
                    <a:cubicBezTo>
                      <a:pt x="0" y="3048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1B39A86E-3D93-4519-8339-AF2E16F48A1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A473D478-5749-4AB9-84D3-B6FD2F7E3E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CD8CFC12-D4F6-4413-A980-9555DB05F9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D22FB6AD-7251-460C-8F68-EC9A30FE14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196CEA23-5605-4C36-BCE1-43F7BC7E62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F1F2BD5B-1A74-4E54-8D22-8B01306D28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CB5096C-92D4-4D92-BE5E-DC9F8CE875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4062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4E952EA9-6EEB-4188-8280-B5941B54B2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CAF3A5A9-96B1-4099-A611-0343087806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690DDC6-840C-4039-A44E-2C9D11454E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445CEA-D59C-477B-84A8-7163839581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1D84F960-F314-41FE-8E0C-9B8DE8B5C3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F23074B2-0A5D-42D1-914E-A60316556F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6ACE5B8D-E475-4895-896B-97717639DC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9977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D63AD73B-CAD9-48E0-89E1-1F531A9F72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8F67E191-9D6E-46DA-982D-34D686BF6C8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A3B9058F-A876-4D14-994D-2999554CF7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930DC04D-63F7-4A8B-8BA0-EBB37FBCE1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DCAA7B2F-CAA7-487C-B9C3-550DCBD496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A51E6295-56F4-4B47-9703-8B5C833054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FC66FAB9-F717-484C-9F47-ABFBC94A72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7" y="365901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DA704F57-9070-4439-B6BB-136279857C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2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66BD4C2A-A544-4628-B9B4-BC803609C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2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CE9A844C-1080-4183-A980-8E2982155B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92348B29-40E9-4CE2-A23C-9360144735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9BB11EDA-F6E1-45BA-B49F-7ABDD656E9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F441DFD2-327A-4071-9249-BCAEF800DA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304F0367-9F6D-4C5F-9818-3CC35C87A4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9" y="371816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C967B7DB-7330-4692-AA81-CAFC51606A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57F65263-2AFD-44AD-AD61-23EC3085CD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4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BD4C27B8-A29B-4575-9EC4-A1B7DC079A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69107FDD-0652-42DE-97A0-264223E6D9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13688F79-032F-4291-869C-3C26B5E9F92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661A607F-AD34-4B38-87EF-D0AFBDDF3A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5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5694E08C-39BB-4792-B645-37D3E63B7D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40" y="377741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0167048B-FB7B-4B7A-B679-D7974FF515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5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4926B316-063E-4D72-AC12-F0953B3204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6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9772A1FC-2C0F-47A6-83D6-9A4A7973D12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83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4DF32C85-4E56-4356-AE0F-2C8D278F01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35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80ACC557-85EF-41DC-B9EC-B0C63F45201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82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13640E5B-764E-4718-975F-3E620288A8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31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16A2EF26-7944-4D17-96AE-ABC43243A3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481374"/>
                <a:ext cx="14097" cy="14096"/>
              </a:xfrm>
              <a:custGeom>
                <a:avLst/>
                <a:gdLst>
                  <a:gd name="connsiteX0" fmla="*/ 14097 w 14097"/>
                  <a:gd name="connsiteY0" fmla="*/ 7049 h 14096"/>
                  <a:gd name="connsiteX1" fmla="*/ 7049 w 14097"/>
                  <a:gd name="connsiteY1" fmla="*/ 14097 h 14096"/>
                  <a:gd name="connsiteX2" fmla="*/ 0 w 14097"/>
                  <a:gd name="connsiteY2" fmla="*/ 7049 h 14096"/>
                  <a:gd name="connsiteX3" fmla="*/ 7049 w 14097"/>
                  <a:gd name="connsiteY3" fmla="*/ 0 h 14096"/>
                  <a:gd name="connsiteX4" fmla="*/ 14097 w 14097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5A1A1B38-0AEF-44DE-B6A5-0B60A59FC4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B94D0D12-8DCC-41BF-9225-D72CF3DF56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9 w 14096"/>
                  <a:gd name="connsiteY1" fmla="*/ 14097 h 14096"/>
                  <a:gd name="connsiteX2" fmla="*/ 0 w 14096"/>
                  <a:gd name="connsiteY2" fmla="*/ 7049 h 14096"/>
                  <a:gd name="connsiteX3" fmla="*/ 7049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B9E43D6F-7890-4F99-B7CE-C30DBDEA2D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82E7692B-A0A5-4B63-9E78-B255FCBAD1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D947BA6F-304B-47B9-913C-6EF6D22B1B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48137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73AA783A-6086-4C47-8151-6085EADB0F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40622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CCB3DC39-E9B5-49ED-B30E-2FB5651CE6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4062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F1AB56F4-B1CC-4680-ACEF-B87EAA7DDD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406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433FE7BD-2D20-45C5-A447-5F0E933734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4062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59D9EB2A-0CB8-463E-8313-3470C29C4B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4063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6AE0C53E-D056-4795-A700-7EBC6C9AE3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40631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93FCCD7-1DE2-4D8D-9071-88B245ED52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99781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8A140C86-8820-4678-B15E-7AECBF59A8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BC8E0EB-69E1-484B-AE06-E57C908595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FBC0FD0C-82A7-44BF-A997-0A9CA418AF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A7390762-8393-4F33-80E6-21BA751334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9978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81B7B85A-833F-464A-939B-149F84E40ED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9978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F485BF70-0F08-4E17-AFD1-6C5C7B258B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659026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13C387DD-897C-4282-BEED-6E0BE32860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1C79F195-D52B-4E48-A9FF-F074256119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F445D0FA-966F-400A-AC8D-8CAAF02E6A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376ECD94-6896-441C-AA44-A4F57F0219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FC92C350-CAD6-4C2E-A65E-E94F58C3728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E71598A5-7F8D-4836-B6FC-F1D1582785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718177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BDCB0F85-A6C5-4E65-8F0A-52671EB3D5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87FFBD54-2EF4-448F-96C7-157A3C6AD3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CAEA2FD7-C9B8-45B4-BEFC-977053FBB2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FF912821-388F-422F-B692-31B5E6DE7E2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71817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F263D211-562D-46EA-AE01-7B1EDBF713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71817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800610A8-10E1-40B1-ABDE-A9D3EEADD1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2" y="3777419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764A3047-3F92-4E69-A680-416CC114BC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2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7F1FA955-903A-430D-A1DA-7E6E303A1B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8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6BC0288C-46CF-46BB-BF88-CFA8B1D85F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4" y="3777383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2867B317-CCCD-4EC7-8406-314DB7830C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87" y="377742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3CEEC945-6738-47C2-88E6-DB29BE3EBE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24" y="37774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25" name="Graphic 4">
              <a:extLst>
                <a:ext uri="{FF2B5EF4-FFF2-40B4-BE49-F238E27FC236}">
                  <a16:creationId xmlns:a16="http://schemas.microsoft.com/office/drawing/2014/main" id="{620CB8D1-CE41-4A5C-8FD5-DACED65531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0154385" y="4452524"/>
              <a:ext cx="1443404" cy="1443428"/>
              <a:chOff x="5734037" y="3067039"/>
              <a:chExt cx="724483" cy="724489"/>
            </a:xfrm>
            <a:grpFill/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EA5E2DDF-06EC-428F-9085-5AE5B2F33E5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067039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6579F314-5DE2-47CC-A508-6E15B3B879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C969A4AD-8589-4A96-8118-DE73000C47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20A98F31-9A68-46C2-A001-8011DF7C49A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9B442335-3E37-40C9-9E08-8D7931CC99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E846DFE3-FEC9-4DBF-9290-F60816F8A2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9BD31C12-2164-410B-9A3A-6C1BEEA5BDF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DF87D878-021F-4966-9031-5203868AA43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26284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A1927FB0-8581-4B00-B542-1426415D58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2628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F11076EE-3A40-4B54-B1F7-555E6831B64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4315A147-8A55-4B74-8F80-58B50585E0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C918AFBC-933F-4220-A164-BA4B40B4DF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53814E64-DB41-47BE-9E6E-F40AC4A82F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12628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8 w 14097"/>
                  <a:gd name="connsiteY1" fmla="*/ 14097 h 14097"/>
                  <a:gd name="connsiteX2" fmla="*/ 0 w 14097"/>
                  <a:gd name="connsiteY2" fmla="*/ 7049 h 14097"/>
                  <a:gd name="connsiteX3" fmla="*/ 7048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6DC1BF4C-B973-4D6F-AF0E-EA5838A1DB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8F9E73A9-D8DE-4FB2-BCA9-D07DD7A2E1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8543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0B2FF232-F7ED-4A4E-A36D-94E7B24F37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E058CFC5-FAB0-40DD-9B58-D7A64EF01F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B7C79FDB-284E-41FB-A93C-3A6A4F9488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706A4151-1369-4294-824A-70C8F929FC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B9396E5-7245-48DA-AA32-5AB0842B7E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066EB7EE-D151-4B68-B14C-1C54DF2B18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FF4EDA4A-9471-4A70-9A00-B1A66B5E1B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24467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04799963-01EB-401F-8BFD-6CDF641B5C2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244677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04CB3DF6-6D3D-40C5-B741-F2D83DD79E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CA7B3897-3CBB-49E3-90EC-96E63DD9A8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E37DB1E2-1825-47B1-9E89-634473EF505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D2052410-9234-4B80-B825-7F91A5D615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24467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08E7CB48-0744-4DF2-86B6-3335F38E6A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CEB74DCF-332B-4BD3-B036-4A133327A2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0382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91B69718-3DD4-4F38-81E1-2342692AFF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D5CE2490-5C33-412B-B444-D335E3AE8D1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328ABF3-0C84-459E-B986-7DCD455B6C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37381077-83CF-4050-A5F3-8C33C6E707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20C082F-B414-4A4B-82AB-CE86C925CA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0B3086F2-6938-4EB0-9EC8-B829D1E9F2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5E9F8385-761F-44AF-8AC6-CDBA79A52D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63074"/>
                <a:ext cx="14192" cy="14097"/>
              </a:xfrm>
              <a:custGeom>
                <a:avLst/>
                <a:gdLst>
                  <a:gd name="connsiteX0" fmla="*/ 14192 w 14192"/>
                  <a:gd name="connsiteY0" fmla="*/ 7048 h 14097"/>
                  <a:gd name="connsiteX1" fmla="*/ 7144 w 14192"/>
                  <a:gd name="connsiteY1" fmla="*/ 14097 h 14097"/>
                  <a:gd name="connsiteX2" fmla="*/ 0 w 14192"/>
                  <a:gd name="connsiteY2" fmla="*/ 7048 h 14097"/>
                  <a:gd name="connsiteX3" fmla="*/ 7049 w 14192"/>
                  <a:gd name="connsiteY3" fmla="*/ 0 h 14097"/>
                  <a:gd name="connsiteX4" fmla="*/ 14192 w 14192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09AADCB5-90F3-4C5F-97B2-73CFF780AE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ABB6628B-E9D0-4651-8570-CF1E5DB026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34C9E771-C0D9-4027-96D7-651E8B7361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380B5730-FEEA-409B-9D23-066B99E31B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B4A9FBAD-235A-4A0F-8C54-15633CCAFF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63074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8 w 14097"/>
                  <a:gd name="connsiteY1" fmla="*/ 14097 h 14097"/>
                  <a:gd name="connsiteX2" fmla="*/ 0 w 14097"/>
                  <a:gd name="connsiteY2" fmla="*/ 7048 h 14097"/>
                  <a:gd name="connsiteX3" fmla="*/ 7048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BF2F6746-8E16-406D-835E-5FCE6D4F07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4FADF2DF-4564-4627-AA45-85EFB708291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2222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3D4185DD-65EF-442E-935F-90BDEB5E82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0B30569E-CF14-4DF4-AE71-046DC42001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ADC6272B-8E87-4AF5-A668-16EC7F3C4E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95404AC5-86D6-4864-BE91-84B6F66D57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0283DF22-5559-4FAB-A06F-CDB1F9C996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F82E770A-E6CC-441E-A6A9-47A33BF503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32C89056-2DB3-4565-8418-63EE598E0C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6953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A81C1B01-00CC-4C39-A005-8544974B93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EC8F3F3D-5E7B-4168-BA7B-09B22C878A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9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BB09AD41-8582-44F1-A4DB-8C4ECC1D6A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EEF98626-AA8E-4ABF-A29A-89C159D70B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8A910E73-8115-449D-91BC-4BFD85100B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2BA84EC5-ADB4-412B-9D7F-785CA24046B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26281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1EAEE025-D974-498D-B276-E887588BFB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C0A6777F-C322-4CFA-B4FA-C98FF4CBF6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6C45B00F-D649-44DC-9CB3-04C5A6CB86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14D681DB-7395-46C8-A277-8D5478BA84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2FF0C982-758E-46DD-88BE-0B1087F201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2628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AC91889-4175-4937-A495-37094F3EEB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85433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79B67AE9-E5D6-4FA2-AFB6-73EB860099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DA158CC5-EE56-492A-A095-77324472D8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2547278D-FC88-4AB6-8C3C-EEF9282F3E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D0EC49A0-0827-49E5-89C4-F56299A5DF2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9B2514B8-CBE5-40F8-85F8-8B9D514F53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85432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89206225-1385-42CD-A435-03C6731B51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244676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516C97D0-ECDA-4BE7-B7B0-104FBAC6E4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79F18E51-9DC0-4458-85F4-8DB85B23C1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18150D47-30EF-4F80-A28C-F206A8E152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9146AF03-B828-49EB-A7CE-81D57EA9BB3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7CD96A2B-A3CD-4992-97C7-7F47A2A399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24467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D0A0D10A-D5BB-4580-91C6-15338B079CC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2B73C84D-0C6C-4AF8-9DAB-89DF1E4F89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DD66FFFF-5665-44A0-AA5E-7220E985AC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477FB038-24D7-43B0-955A-DCC0332B5D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A17227F-E9D3-4A51-9DF0-DFD909AB3F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55E6B883-1C1C-40DF-A620-22CC48A9A1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07EC08BD-662A-486F-BA39-0A9F368A63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31A6E4DA-A497-400B-ADFB-11B80E5E0D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CDD443E5-430F-4F57-A4ED-2BCF8E0C7C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F736045A-DB37-4982-96ED-70BEEEC7CFE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C1805AD9-942F-480F-A92D-B71F17B653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35A6E50-B827-447C-A1E3-243CB09BB1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63074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8A99C9B0-BE26-498B-BF80-39E5CC621E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3699857B-7AC7-4686-91B1-0F634DB5A0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EAD66306-06A7-4198-B997-F9B8B8AF84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173378AC-6515-495C-A818-4A41463E45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A9203926-2967-431A-9A3A-80ADDF9A2D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C0F60567-9012-4A1A-81DF-87B661B62F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4222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C1BE4E4-B943-411F-A103-BCDC29AF0E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81374"/>
                <a:ext cx="14192" cy="14096"/>
              </a:xfrm>
              <a:custGeom>
                <a:avLst/>
                <a:gdLst>
                  <a:gd name="connsiteX0" fmla="*/ 14192 w 14192"/>
                  <a:gd name="connsiteY0" fmla="*/ 7049 h 14096"/>
                  <a:gd name="connsiteX1" fmla="*/ 7144 w 14192"/>
                  <a:gd name="connsiteY1" fmla="*/ 14097 h 14096"/>
                  <a:gd name="connsiteX2" fmla="*/ 0 w 14192"/>
                  <a:gd name="connsiteY2" fmla="*/ 7049 h 14096"/>
                  <a:gd name="connsiteX3" fmla="*/ 7049 w 14192"/>
                  <a:gd name="connsiteY3" fmla="*/ 0 h 14096"/>
                  <a:gd name="connsiteX4" fmla="*/ 14192 w 14192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1049"/>
                      <a:pt x="0" y="7049"/>
                    </a:cubicBezTo>
                    <a:cubicBezTo>
                      <a:pt x="0" y="3048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8F230BF9-4B8A-4479-B197-83AA90D84C3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F64D3FA3-2702-4732-A545-29A65184DD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59DE7572-DB33-4A77-B082-96E36A6196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A2B8418A-24D1-4998-949F-BAEBE54CA3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596AFA95-4288-45C6-8385-D30F8C82217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061C74E7-2DA4-47FE-A604-4CAE7426A2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49948CD9-6639-4D61-84AD-9888621969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4062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E50D3989-13DF-4E94-9702-7CA27CE585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DBA4DD0C-2E69-4365-8750-37BF2BD8A2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38B2F783-8850-437D-AD52-62F4EFE868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6C32D6E8-869E-4CBF-9409-124D3FAD39C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28C44847-ACE1-4D0D-B2B1-5E433166E3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400A772C-C03A-42DC-B0A7-F0DFC7F83D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BF55ACF2-1DAF-4BAD-98D9-7B74114067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9977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B8457AE1-96AA-479D-B76B-E62113204B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1C4F22AD-9264-4746-9908-F88858B7FA0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B25671A-8A56-49F6-802A-1CBA58FF87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A8875C06-A53D-4C2E-AAB0-2FBC5A1678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6F5F71D6-3D74-4013-8BD6-7E52F6DE50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B41736BF-619F-402B-B70E-089811060A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51A1F261-EEC0-4F95-B854-1454E3CF37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7" y="365901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F7DE06E0-C362-485D-8F89-44FDBBAFF8C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2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54822EF5-4772-42F0-A59B-04AB882D75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2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712CE3F4-4BC0-495F-9973-C58EC6CD6A3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11274400-B083-4CEF-804B-9EBF7CCAAD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9945F450-B42E-4DA2-9C76-BA1F38AF31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A853A096-C1AB-4E3C-8B35-D682A008A5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75F8D171-62A5-4073-97CB-4E59015698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9" y="371816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DC99FCCD-BBB6-40F1-B331-659509ED7C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60E3381B-598B-490B-8F81-584CB96089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4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5B8A6BEE-872E-41B4-AAF7-121594E054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BF66EF2A-00A9-46F3-9710-6ADBD3D544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A0432490-5DE8-4D81-B39C-B44CE1C47C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D48F6BC8-EABA-4287-8FCC-8BC7CD06DF1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5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623E8D30-1C78-41D4-97C9-63646BD99EF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40" y="377741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C3167F67-0621-408A-A29A-A4536450C3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5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9A19AC3E-362D-4172-97EF-45598CB5FF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6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5B76F033-FB8A-48DB-8951-F527972A6E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83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E832F524-84B7-44E4-9494-0969759A2D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35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05782180-F16A-4A8B-A276-5E38F741B7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82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34157406-E447-440D-9BCB-CA3D365A00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31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36D42F35-9B1B-469C-999F-7CEB42F4C8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481374"/>
                <a:ext cx="14097" cy="14096"/>
              </a:xfrm>
              <a:custGeom>
                <a:avLst/>
                <a:gdLst>
                  <a:gd name="connsiteX0" fmla="*/ 14097 w 14097"/>
                  <a:gd name="connsiteY0" fmla="*/ 7049 h 14096"/>
                  <a:gd name="connsiteX1" fmla="*/ 7049 w 14097"/>
                  <a:gd name="connsiteY1" fmla="*/ 14097 h 14096"/>
                  <a:gd name="connsiteX2" fmla="*/ 0 w 14097"/>
                  <a:gd name="connsiteY2" fmla="*/ 7049 h 14096"/>
                  <a:gd name="connsiteX3" fmla="*/ 7049 w 14097"/>
                  <a:gd name="connsiteY3" fmla="*/ 0 h 14096"/>
                  <a:gd name="connsiteX4" fmla="*/ 14097 w 14097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8A4EEFF2-05CF-4C27-B386-A0E5DCD63A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ED3EEF5A-B20A-42C7-A575-5E2655BA88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9 w 14096"/>
                  <a:gd name="connsiteY1" fmla="*/ 14097 h 14096"/>
                  <a:gd name="connsiteX2" fmla="*/ 0 w 14096"/>
                  <a:gd name="connsiteY2" fmla="*/ 7049 h 14096"/>
                  <a:gd name="connsiteX3" fmla="*/ 7049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A46A893E-1A0C-40BF-AB34-831A41DDCA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6157AAD3-7E95-41BF-8073-F6F78BA164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24E5F5D2-D8B5-4D70-B617-B5029CA641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48137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E04ECE8A-8657-4D32-AD7E-B1058D0F7FF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40622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57990A80-1E83-4C43-B61D-4CB71B2CD7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4062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2226514-799A-43F7-A5A3-6753D7BE8C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406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092572FA-6D1F-42B1-BEE7-46DC341D2B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4062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F7870CB6-417E-416A-8307-E48C0A6A25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4063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F1EFCC94-4633-4464-8D4C-2EF4454D93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40631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37B2F8A5-8637-4CCA-B44D-8844E60191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99781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B0EA5452-15FD-43AB-8AC3-3C5C9BB2D5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0CFF3735-E718-4E54-A53D-B56B16207BC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C6087547-39E2-4056-8173-171D1B1D7CE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B5C5BAD6-F152-46DD-87A7-62F3BDB9D4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9978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3B07F977-B52E-43E1-8030-6B46F7E807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9978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3120570F-B852-4D3C-8E2C-965B514435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659026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019A7E82-47E0-4A90-BB03-E662E4F828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623437BB-CD62-411D-B155-CF1B830F05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3DC4DD6A-A1ED-41B9-99FB-4D75C409AB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E6F33FC1-BFE0-4A5D-9675-2DAFE11277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CC7BBB4D-B45F-4D85-ADB0-AE2D0E8441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BF25838A-853B-4F5F-A10F-CD54217F02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718177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C471161E-04D5-495C-9104-22CF3ED824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DFDFEF08-9D16-47C5-B413-C7BA090E9F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254CA655-0F8E-46A3-AE85-F020BB071F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A631A92A-3002-4BD3-B9AF-B0D7EF77E6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71817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CB0D363-B41D-4BB8-8F85-D183BF85BF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71817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097B2CE1-2117-42A1-B721-1FD442E686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2" y="3777419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300878E3-A086-4922-AD6A-2D2A94CA2F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2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73F37BA0-1202-4528-973C-06E260C8B7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8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98FCD65C-13F5-4B2B-B39B-7153A0F64C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4" y="3777383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AED6E0B7-C4E5-47DB-B2F4-A6130DA93F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87" y="377742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F6A91E1B-7F17-409B-8020-6F9E259D1C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24" y="37774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CB669F9-B580-E833-AC08-760A2840DE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7958070"/>
              </p:ext>
            </p:extLst>
          </p:nvPr>
        </p:nvGraphicFramePr>
        <p:xfrm>
          <a:off x="5418161" y="1506054"/>
          <a:ext cx="6236355" cy="3714216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983475">
                  <a:extLst>
                    <a:ext uri="{9D8B030D-6E8A-4147-A177-3AD203B41FA5}">
                      <a16:colId xmlns:a16="http://schemas.microsoft.com/office/drawing/2014/main" val="3369209174"/>
                    </a:ext>
                  </a:extLst>
                </a:gridCol>
                <a:gridCol w="1893179">
                  <a:extLst>
                    <a:ext uri="{9D8B030D-6E8A-4147-A177-3AD203B41FA5}">
                      <a16:colId xmlns:a16="http://schemas.microsoft.com/office/drawing/2014/main" val="1249898291"/>
                    </a:ext>
                  </a:extLst>
                </a:gridCol>
                <a:gridCol w="2359701">
                  <a:extLst>
                    <a:ext uri="{9D8B030D-6E8A-4147-A177-3AD203B41FA5}">
                      <a16:colId xmlns:a16="http://schemas.microsoft.com/office/drawing/2014/main" val="2700342302"/>
                    </a:ext>
                  </a:extLst>
                </a:gridCol>
              </a:tblGrid>
              <a:tr h="6537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Tip date</a:t>
                      </a:r>
                    </a:p>
                  </a:txBody>
                  <a:tcPr marL="83314" marR="83314" marT="41657" marB="41657" anchor="ctr"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Format</a:t>
                      </a:r>
                    </a:p>
                  </a:txBody>
                  <a:tcPr marL="83314" marR="83314" marT="41657" marB="41657" anchor="ctr"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Sursă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Destinație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83314" marR="83314" marT="41657" marB="41657" anchor="ctr"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7706406"/>
                  </a:ext>
                </a:extLst>
              </a:tr>
              <a:tr h="6537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Text comenzi</a:t>
                      </a:r>
                    </a:p>
                  </a:txBody>
                  <a:tcPr marL="83314" marR="83314" marT="41657" marB="41657" anchor="ctr"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.txt / input UI</a:t>
                      </a:r>
                    </a:p>
                  </a:txBody>
                  <a:tcPr marL="83314" marR="83314" marT="41657" marB="41657" anchor="ctr"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utilizator</a:t>
                      </a:r>
                    </a:p>
                  </a:txBody>
                  <a:tcPr marL="83314" marR="83314" marT="41657" marB="41657" anchor="ctr"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4444297"/>
                  </a:ext>
                </a:extLst>
              </a:tr>
              <a:tr h="6537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Cod generat</a:t>
                      </a:r>
                    </a:p>
                  </a:txBody>
                  <a:tcPr marL="83314" marR="83314" marT="41657" marB="41657" anchor="ctr"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.py</a:t>
                      </a:r>
                    </a:p>
                  </a:txBody>
                  <a:tcPr marL="83314" marR="83314" marT="41657" marB="41657" anchor="ctr"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AI Generator</a:t>
                      </a:r>
                    </a:p>
                  </a:txBody>
                  <a:tcPr marL="83314" marR="83314" marT="41657" marB="41657" anchor="ctr"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124990"/>
                  </a:ext>
                </a:extLst>
              </a:tr>
              <a:tr h="6537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Obiect 3D</a:t>
                      </a:r>
                    </a:p>
                  </a:txBody>
                  <a:tcPr marL="83314" marR="83314" marT="41657" marB="41657" anchor="ctr"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.blend, .obj</a:t>
                      </a:r>
                    </a:p>
                  </a:txBody>
                  <a:tcPr marL="83314" marR="83314" marT="41657" marB="41657" anchor="ctr"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Blender</a:t>
                      </a:r>
                    </a:p>
                  </a:txBody>
                  <a:tcPr marL="83314" marR="83314" marT="41657" marB="41657" anchor="ctr"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528844"/>
                  </a:ext>
                </a:extLst>
              </a:tr>
              <a:tr h="10994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Loguri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și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istorice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83314" marR="83314" marT="41657" marB="41657" anchor="ctr"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.csv / DB</a:t>
                      </a:r>
                    </a:p>
                  </a:txBody>
                  <a:tcPr marL="83314" marR="83314" marT="41657" marB="41657" anchor="ctr"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sistem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marL="83314" marR="83314" marT="41657" marB="41657" anchor="ctr"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8774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3596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FB64E7-4A48-8975-5609-B4A815113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Tehnologii utilizate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1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3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5FC0FA-5AB4-0A7C-D1B8-33B0382994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34868" y="1130846"/>
            <a:ext cx="5217173" cy="43513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Python 3.x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Blender API (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bpy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Transformers (Hugging Face)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spaCy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/ NLTK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pentru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NLP de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bază</a:t>
            </a: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TensorFlow /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PyTorch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pentru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antrenare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model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Flask /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pentru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interfața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web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simplă</a:t>
            </a: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Jupyter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Notebook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pentru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teste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GitHub / Colab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pentru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colaborare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antrenament</a:t>
            </a: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9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751975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617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7DEC22-24C6-AB12-5E4C-6478789A0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736" y="507238"/>
            <a:ext cx="3624471" cy="384589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Utilizatori și roluri</a:t>
            </a:r>
          </a:p>
        </p:txBody>
      </p:sp>
      <p:sp>
        <p:nvSpPr>
          <p:cNvPr id="11" name="Graphic 212">
            <a:extLst>
              <a:ext uri="{FF2B5EF4-FFF2-40B4-BE49-F238E27FC236}">
                <a16:creationId xmlns:a16="http://schemas.microsoft.com/office/drawing/2014/main" id="{7FC918AD-C067-46DF-8F98-83352CB946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10600" y="481489"/>
            <a:ext cx="932200" cy="932200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3" name="Graphic 212">
            <a:extLst>
              <a:ext uri="{FF2B5EF4-FFF2-40B4-BE49-F238E27FC236}">
                <a16:creationId xmlns:a16="http://schemas.microsoft.com/office/drawing/2014/main" id="{3C1473DD-4042-44F9-A962-71F52BAE32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10600" y="481489"/>
            <a:ext cx="932200" cy="932200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C86BE98-673F-469D-B15E-8B6305CE3A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62945" y="1898890"/>
            <a:ext cx="1598829" cy="531293"/>
            <a:chOff x="6491531" y="1420258"/>
            <a:chExt cx="1598829" cy="531293"/>
          </a:xfrm>
          <a:solidFill>
            <a:schemeClr val="bg1"/>
          </a:solidFill>
        </p:grpSpPr>
        <p:grpSp>
          <p:nvGrpSpPr>
            <p:cNvPr id="16" name="Graphic 190">
              <a:extLst>
                <a:ext uri="{FF2B5EF4-FFF2-40B4-BE49-F238E27FC236}">
                  <a16:creationId xmlns:a16="http://schemas.microsoft.com/office/drawing/2014/main" id="{D60FC4AA-5A68-4DF2-BD89-67DB10986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491531" y="1420258"/>
              <a:ext cx="1598829" cy="531293"/>
              <a:chOff x="2504802" y="1755501"/>
              <a:chExt cx="1598829" cy="531293"/>
            </a:xfrm>
            <a:grpFill/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ACC71B55-3529-463E-B5AB-1011B95EF0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2113855"/>
                <a:ext cx="1598614" cy="172939"/>
              </a:xfrm>
              <a:custGeom>
                <a:avLst/>
                <a:gdLst>
                  <a:gd name="connsiteX0" fmla="*/ 1248648 w 1598614"/>
                  <a:gd name="connsiteY0" fmla="*/ 172939 h 172939"/>
                  <a:gd name="connsiteX1" fmla="*/ 1123031 w 1598614"/>
                  <a:gd name="connsiteY1" fmla="*/ 92708 h 172939"/>
                  <a:gd name="connsiteX2" fmla="*/ 1024085 w 1598614"/>
                  <a:gd name="connsiteY2" fmla="*/ 29469 h 172939"/>
                  <a:gd name="connsiteX3" fmla="*/ 925140 w 1598614"/>
                  <a:gd name="connsiteY3" fmla="*/ 92708 h 172939"/>
                  <a:gd name="connsiteX4" fmla="*/ 799522 w 1598614"/>
                  <a:gd name="connsiteY4" fmla="*/ 172939 h 172939"/>
                  <a:gd name="connsiteX5" fmla="*/ 799522 w 1598614"/>
                  <a:gd name="connsiteY5" fmla="*/ 172939 h 172939"/>
                  <a:gd name="connsiteX6" fmla="*/ 673905 w 1598614"/>
                  <a:gd name="connsiteY6" fmla="*/ 92708 h 172939"/>
                  <a:gd name="connsiteX7" fmla="*/ 574959 w 1598614"/>
                  <a:gd name="connsiteY7" fmla="*/ 29469 h 172939"/>
                  <a:gd name="connsiteX8" fmla="*/ 476014 w 1598614"/>
                  <a:gd name="connsiteY8" fmla="*/ 92708 h 172939"/>
                  <a:gd name="connsiteX9" fmla="*/ 350396 w 1598614"/>
                  <a:gd name="connsiteY9" fmla="*/ 172939 h 172939"/>
                  <a:gd name="connsiteX10" fmla="*/ 224778 w 1598614"/>
                  <a:gd name="connsiteY10" fmla="*/ 92708 h 172939"/>
                  <a:gd name="connsiteX11" fmla="*/ 125833 w 1598614"/>
                  <a:gd name="connsiteY11" fmla="*/ 29469 h 172939"/>
                  <a:gd name="connsiteX12" fmla="*/ 26887 w 1598614"/>
                  <a:gd name="connsiteY12" fmla="*/ 92708 h 172939"/>
                  <a:gd name="connsiteX13" fmla="*/ 0 w 1598614"/>
                  <a:gd name="connsiteY13" fmla="*/ 80232 h 172939"/>
                  <a:gd name="connsiteX14" fmla="*/ 125618 w 1598614"/>
                  <a:gd name="connsiteY14" fmla="*/ 0 h 172939"/>
                  <a:gd name="connsiteX15" fmla="*/ 251235 w 1598614"/>
                  <a:gd name="connsiteY15" fmla="*/ 80232 h 172939"/>
                  <a:gd name="connsiteX16" fmla="*/ 350181 w 1598614"/>
                  <a:gd name="connsiteY16" fmla="*/ 143471 h 172939"/>
                  <a:gd name="connsiteX17" fmla="*/ 449126 w 1598614"/>
                  <a:gd name="connsiteY17" fmla="*/ 80232 h 172939"/>
                  <a:gd name="connsiteX18" fmla="*/ 574744 w 1598614"/>
                  <a:gd name="connsiteY18" fmla="*/ 0 h 172939"/>
                  <a:gd name="connsiteX19" fmla="*/ 700362 w 1598614"/>
                  <a:gd name="connsiteY19" fmla="*/ 80232 h 172939"/>
                  <a:gd name="connsiteX20" fmla="*/ 799307 w 1598614"/>
                  <a:gd name="connsiteY20" fmla="*/ 143471 h 172939"/>
                  <a:gd name="connsiteX21" fmla="*/ 799307 w 1598614"/>
                  <a:gd name="connsiteY21" fmla="*/ 143471 h 172939"/>
                  <a:gd name="connsiteX22" fmla="*/ 898253 w 1598614"/>
                  <a:gd name="connsiteY22" fmla="*/ 80232 h 172939"/>
                  <a:gd name="connsiteX23" fmla="*/ 1023870 w 1598614"/>
                  <a:gd name="connsiteY23" fmla="*/ 0 h 172939"/>
                  <a:gd name="connsiteX24" fmla="*/ 1149488 w 1598614"/>
                  <a:gd name="connsiteY24" fmla="*/ 80232 h 172939"/>
                  <a:gd name="connsiteX25" fmla="*/ 1248433 w 1598614"/>
                  <a:gd name="connsiteY25" fmla="*/ 143471 h 172939"/>
                  <a:gd name="connsiteX26" fmla="*/ 1347379 w 1598614"/>
                  <a:gd name="connsiteY26" fmla="*/ 80232 h 172939"/>
                  <a:gd name="connsiteX27" fmla="*/ 1472997 w 1598614"/>
                  <a:gd name="connsiteY27" fmla="*/ 0 h 172939"/>
                  <a:gd name="connsiteX28" fmla="*/ 1598614 w 1598614"/>
                  <a:gd name="connsiteY28" fmla="*/ 80232 h 172939"/>
                  <a:gd name="connsiteX29" fmla="*/ 1571942 w 1598614"/>
                  <a:gd name="connsiteY29" fmla="*/ 92708 h 172939"/>
                  <a:gd name="connsiteX30" fmla="*/ 1472997 w 1598614"/>
                  <a:gd name="connsiteY30" fmla="*/ 29469 h 172939"/>
                  <a:gd name="connsiteX31" fmla="*/ 1374051 w 1598614"/>
                  <a:gd name="connsiteY31" fmla="*/ 92708 h 172939"/>
                  <a:gd name="connsiteX32" fmla="*/ 1248648 w 1598614"/>
                  <a:gd name="connsiteY32" fmla="*/ 172939 h 172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614" h="172939">
                    <a:moveTo>
                      <a:pt x="1248648" y="172939"/>
                    </a:moveTo>
                    <a:cubicBezTo>
                      <a:pt x="1194229" y="172939"/>
                      <a:pt x="1146046" y="142180"/>
                      <a:pt x="1123031" y="92708"/>
                    </a:cubicBezTo>
                    <a:cubicBezTo>
                      <a:pt x="1104962" y="53775"/>
                      <a:pt x="1067105" y="29469"/>
                      <a:pt x="1024085" y="29469"/>
                    </a:cubicBezTo>
                    <a:cubicBezTo>
                      <a:pt x="981066" y="29469"/>
                      <a:pt x="943208" y="53775"/>
                      <a:pt x="925140" y="92708"/>
                    </a:cubicBezTo>
                    <a:cubicBezTo>
                      <a:pt x="902124" y="142180"/>
                      <a:pt x="853942" y="172939"/>
                      <a:pt x="799522" y="172939"/>
                    </a:cubicBezTo>
                    <a:cubicBezTo>
                      <a:pt x="799522" y="172939"/>
                      <a:pt x="799522" y="172939"/>
                      <a:pt x="799522" y="172939"/>
                    </a:cubicBezTo>
                    <a:cubicBezTo>
                      <a:pt x="744887" y="172939"/>
                      <a:pt x="696920" y="142180"/>
                      <a:pt x="673905" y="92708"/>
                    </a:cubicBezTo>
                    <a:cubicBezTo>
                      <a:pt x="655836" y="53775"/>
                      <a:pt x="617979" y="29469"/>
                      <a:pt x="574959" y="29469"/>
                    </a:cubicBezTo>
                    <a:cubicBezTo>
                      <a:pt x="531939" y="29469"/>
                      <a:pt x="494082" y="53775"/>
                      <a:pt x="476014" y="92708"/>
                    </a:cubicBezTo>
                    <a:cubicBezTo>
                      <a:pt x="452998" y="142180"/>
                      <a:pt x="405031" y="172939"/>
                      <a:pt x="350396" y="172939"/>
                    </a:cubicBezTo>
                    <a:cubicBezTo>
                      <a:pt x="295976" y="172939"/>
                      <a:pt x="247794" y="142180"/>
                      <a:pt x="224778" y="92708"/>
                    </a:cubicBezTo>
                    <a:cubicBezTo>
                      <a:pt x="206710" y="53775"/>
                      <a:pt x="168853" y="29469"/>
                      <a:pt x="125833" y="29469"/>
                    </a:cubicBezTo>
                    <a:cubicBezTo>
                      <a:pt x="82813" y="29469"/>
                      <a:pt x="44956" y="53775"/>
                      <a:pt x="26887" y="92708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268" y="30759"/>
                      <a:pt x="969235" y="0"/>
                      <a:pt x="1023870" y="0"/>
                    </a:cubicBezTo>
                    <a:cubicBezTo>
                      <a:pt x="1078505" y="0"/>
                      <a:pt x="1126472" y="30759"/>
                      <a:pt x="1149488" y="80232"/>
                    </a:cubicBezTo>
                    <a:cubicBezTo>
                      <a:pt x="1167556" y="119165"/>
                      <a:pt x="1205414" y="143471"/>
                      <a:pt x="1248433" y="143471"/>
                    </a:cubicBezTo>
                    <a:cubicBezTo>
                      <a:pt x="1291453" y="143471"/>
                      <a:pt x="1329311" y="119165"/>
                      <a:pt x="1347379" y="80232"/>
                    </a:cubicBezTo>
                    <a:cubicBezTo>
                      <a:pt x="1370394" y="30759"/>
                      <a:pt x="1418361" y="0"/>
                      <a:pt x="1472997" y="0"/>
                    </a:cubicBezTo>
                    <a:cubicBezTo>
                      <a:pt x="1527632" y="0"/>
                      <a:pt x="1575814" y="30759"/>
                      <a:pt x="1598614" y="80232"/>
                    </a:cubicBezTo>
                    <a:lnTo>
                      <a:pt x="1571942" y="92708"/>
                    </a:lnTo>
                    <a:cubicBezTo>
                      <a:pt x="1553874" y="53775"/>
                      <a:pt x="1515801" y="29469"/>
                      <a:pt x="1472997" y="29469"/>
                    </a:cubicBezTo>
                    <a:cubicBezTo>
                      <a:pt x="1429977" y="29469"/>
                      <a:pt x="1392119" y="53775"/>
                      <a:pt x="1374051" y="92708"/>
                    </a:cubicBezTo>
                    <a:cubicBezTo>
                      <a:pt x="1351251" y="142180"/>
                      <a:pt x="1303069" y="172939"/>
                      <a:pt x="1248648" y="172939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C7C124C6-B221-427F-ACA6-DFAC5A1608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1755501"/>
                <a:ext cx="1598829" cy="172724"/>
              </a:xfrm>
              <a:custGeom>
                <a:avLst/>
                <a:gdLst>
                  <a:gd name="connsiteX0" fmla="*/ 1248648 w 1598829"/>
                  <a:gd name="connsiteY0" fmla="*/ 172724 h 172724"/>
                  <a:gd name="connsiteX1" fmla="*/ 1123031 w 1598829"/>
                  <a:gd name="connsiteY1" fmla="*/ 92492 h 172724"/>
                  <a:gd name="connsiteX2" fmla="*/ 1024085 w 1598829"/>
                  <a:gd name="connsiteY2" fmla="*/ 29253 h 172724"/>
                  <a:gd name="connsiteX3" fmla="*/ 925140 w 1598829"/>
                  <a:gd name="connsiteY3" fmla="*/ 92492 h 172724"/>
                  <a:gd name="connsiteX4" fmla="*/ 799522 w 1598829"/>
                  <a:gd name="connsiteY4" fmla="*/ 172724 h 172724"/>
                  <a:gd name="connsiteX5" fmla="*/ 799522 w 1598829"/>
                  <a:gd name="connsiteY5" fmla="*/ 172724 h 172724"/>
                  <a:gd name="connsiteX6" fmla="*/ 673905 w 1598829"/>
                  <a:gd name="connsiteY6" fmla="*/ 92492 h 172724"/>
                  <a:gd name="connsiteX7" fmla="*/ 574959 w 1598829"/>
                  <a:gd name="connsiteY7" fmla="*/ 29253 h 172724"/>
                  <a:gd name="connsiteX8" fmla="*/ 476014 w 1598829"/>
                  <a:gd name="connsiteY8" fmla="*/ 92492 h 172724"/>
                  <a:gd name="connsiteX9" fmla="*/ 350396 w 1598829"/>
                  <a:gd name="connsiteY9" fmla="*/ 172724 h 172724"/>
                  <a:gd name="connsiteX10" fmla="*/ 224778 w 1598829"/>
                  <a:gd name="connsiteY10" fmla="*/ 92492 h 172724"/>
                  <a:gd name="connsiteX11" fmla="*/ 125833 w 1598829"/>
                  <a:gd name="connsiteY11" fmla="*/ 29253 h 172724"/>
                  <a:gd name="connsiteX12" fmla="*/ 26887 w 1598829"/>
                  <a:gd name="connsiteY12" fmla="*/ 92492 h 172724"/>
                  <a:gd name="connsiteX13" fmla="*/ 0 w 1598829"/>
                  <a:gd name="connsiteY13" fmla="*/ 80232 h 172724"/>
                  <a:gd name="connsiteX14" fmla="*/ 125618 w 1598829"/>
                  <a:gd name="connsiteY14" fmla="*/ 0 h 172724"/>
                  <a:gd name="connsiteX15" fmla="*/ 251235 w 1598829"/>
                  <a:gd name="connsiteY15" fmla="*/ 80232 h 172724"/>
                  <a:gd name="connsiteX16" fmla="*/ 350181 w 1598829"/>
                  <a:gd name="connsiteY16" fmla="*/ 143471 h 172724"/>
                  <a:gd name="connsiteX17" fmla="*/ 449126 w 1598829"/>
                  <a:gd name="connsiteY17" fmla="*/ 80232 h 172724"/>
                  <a:gd name="connsiteX18" fmla="*/ 574744 w 1598829"/>
                  <a:gd name="connsiteY18" fmla="*/ 0 h 172724"/>
                  <a:gd name="connsiteX19" fmla="*/ 700362 w 1598829"/>
                  <a:gd name="connsiteY19" fmla="*/ 80232 h 172724"/>
                  <a:gd name="connsiteX20" fmla="*/ 799307 w 1598829"/>
                  <a:gd name="connsiteY20" fmla="*/ 143471 h 172724"/>
                  <a:gd name="connsiteX21" fmla="*/ 799307 w 1598829"/>
                  <a:gd name="connsiteY21" fmla="*/ 143471 h 172724"/>
                  <a:gd name="connsiteX22" fmla="*/ 898253 w 1598829"/>
                  <a:gd name="connsiteY22" fmla="*/ 80232 h 172724"/>
                  <a:gd name="connsiteX23" fmla="*/ 1024085 w 1598829"/>
                  <a:gd name="connsiteY23" fmla="*/ 0 h 172724"/>
                  <a:gd name="connsiteX24" fmla="*/ 1149703 w 1598829"/>
                  <a:gd name="connsiteY24" fmla="*/ 80232 h 172724"/>
                  <a:gd name="connsiteX25" fmla="*/ 1248648 w 1598829"/>
                  <a:gd name="connsiteY25" fmla="*/ 143471 h 172724"/>
                  <a:gd name="connsiteX26" fmla="*/ 1347594 w 1598829"/>
                  <a:gd name="connsiteY26" fmla="*/ 80232 h 172724"/>
                  <a:gd name="connsiteX27" fmla="*/ 1473212 w 1598829"/>
                  <a:gd name="connsiteY27" fmla="*/ 0 h 172724"/>
                  <a:gd name="connsiteX28" fmla="*/ 1598829 w 1598829"/>
                  <a:gd name="connsiteY28" fmla="*/ 80232 h 172724"/>
                  <a:gd name="connsiteX29" fmla="*/ 1572157 w 1598829"/>
                  <a:gd name="connsiteY29" fmla="*/ 92492 h 172724"/>
                  <a:gd name="connsiteX30" fmla="*/ 1473212 w 1598829"/>
                  <a:gd name="connsiteY30" fmla="*/ 29253 h 172724"/>
                  <a:gd name="connsiteX31" fmla="*/ 1374266 w 1598829"/>
                  <a:gd name="connsiteY31" fmla="*/ 92492 h 172724"/>
                  <a:gd name="connsiteX32" fmla="*/ 1248648 w 1598829"/>
                  <a:gd name="connsiteY32" fmla="*/ 172724 h 17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829" h="172724">
                    <a:moveTo>
                      <a:pt x="1248648" y="172724"/>
                    </a:moveTo>
                    <a:cubicBezTo>
                      <a:pt x="1194229" y="172724"/>
                      <a:pt x="1146046" y="141965"/>
                      <a:pt x="1123031" y="92492"/>
                    </a:cubicBezTo>
                    <a:cubicBezTo>
                      <a:pt x="1104962" y="53560"/>
                      <a:pt x="1067105" y="29253"/>
                      <a:pt x="1024085" y="29253"/>
                    </a:cubicBezTo>
                    <a:cubicBezTo>
                      <a:pt x="981066" y="29253"/>
                      <a:pt x="943208" y="53560"/>
                      <a:pt x="925140" y="92492"/>
                    </a:cubicBezTo>
                    <a:cubicBezTo>
                      <a:pt x="902124" y="141965"/>
                      <a:pt x="853942" y="172724"/>
                      <a:pt x="799522" y="172724"/>
                    </a:cubicBezTo>
                    <a:cubicBezTo>
                      <a:pt x="799522" y="172724"/>
                      <a:pt x="799522" y="172724"/>
                      <a:pt x="799522" y="172724"/>
                    </a:cubicBezTo>
                    <a:cubicBezTo>
                      <a:pt x="744887" y="172724"/>
                      <a:pt x="696920" y="141965"/>
                      <a:pt x="673905" y="92492"/>
                    </a:cubicBezTo>
                    <a:cubicBezTo>
                      <a:pt x="655836" y="53560"/>
                      <a:pt x="617979" y="29253"/>
                      <a:pt x="574959" y="29253"/>
                    </a:cubicBezTo>
                    <a:cubicBezTo>
                      <a:pt x="531939" y="29253"/>
                      <a:pt x="494082" y="53560"/>
                      <a:pt x="476014" y="92492"/>
                    </a:cubicBezTo>
                    <a:cubicBezTo>
                      <a:pt x="452998" y="141965"/>
                      <a:pt x="405031" y="172724"/>
                      <a:pt x="350396" y="172724"/>
                    </a:cubicBezTo>
                    <a:cubicBezTo>
                      <a:pt x="295976" y="172724"/>
                      <a:pt x="247794" y="141965"/>
                      <a:pt x="224778" y="92492"/>
                    </a:cubicBezTo>
                    <a:cubicBezTo>
                      <a:pt x="206710" y="53560"/>
                      <a:pt x="168853" y="29253"/>
                      <a:pt x="125833" y="29253"/>
                    </a:cubicBezTo>
                    <a:cubicBezTo>
                      <a:pt x="82813" y="29253"/>
                      <a:pt x="44956" y="53560"/>
                      <a:pt x="26887" y="92492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483" y="30759"/>
                      <a:pt x="969450" y="0"/>
                      <a:pt x="1024085" y="0"/>
                    </a:cubicBezTo>
                    <a:cubicBezTo>
                      <a:pt x="1078720" y="0"/>
                      <a:pt x="1126688" y="30759"/>
                      <a:pt x="1149703" y="80232"/>
                    </a:cubicBezTo>
                    <a:cubicBezTo>
                      <a:pt x="1167771" y="119165"/>
                      <a:pt x="1205629" y="143471"/>
                      <a:pt x="1248648" y="143471"/>
                    </a:cubicBezTo>
                    <a:cubicBezTo>
                      <a:pt x="1291668" y="143471"/>
                      <a:pt x="1329526" y="119165"/>
                      <a:pt x="1347594" y="80232"/>
                    </a:cubicBezTo>
                    <a:cubicBezTo>
                      <a:pt x="1370610" y="30759"/>
                      <a:pt x="1418792" y="0"/>
                      <a:pt x="1473212" y="0"/>
                    </a:cubicBezTo>
                    <a:cubicBezTo>
                      <a:pt x="1527847" y="0"/>
                      <a:pt x="1576029" y="30759"/>
                      <a:pt x="1598829" y="80232"/>
                    </a:cubicBezTo>
                    <a:lnTo>
                      <a:pt x="1572157" y="92492"/>
                    </a:lnTo>
                    <a:cubicBezTo>
                      <a:pt x="1554089" y="53560"/>
                      <a:pt x="1516016" y="29253"/>
                      <a:pt x="1473212" y="29253"/>
                    </a:cubicBezTo>
                    <a:cubicBezTo>
                      <a:pt x="1430192" y="29253"/>
                      <a:pt x="1392335" y="53560"/>
                      <a:pt x="1374266" y="92492"/>
                    </a:cubicBezTo>
                    <a:cubicBezTo>
                      <a:pt x="1351251" y="141965"/>
                      <a:pt x="1303069" y="172724"/>
                      <a:pt x="1248648" y="172724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7" name="Graphic 190">
              <a:extLst>
                <a:ext uri="{FF2B5EF4-FFF2-40B4-BE49-F238E27FC236}">
                  <a16:creationId xmlns:a16="http://schemas.microsoft.com/office/drawing/2014/main" id="{93B7F476-C9DD-4DD5-94E6-FD75C5412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491531" y="1420258"/>
              <a:ext cx="1598829" cy="531293"/>
              <a:chOff x="2504802" y="1755501"/>
              <a:chExt cx="1598829" cy="531293"/>
            </a:xfrm>
            <a:grpFill/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CF04B155-0292-44AA-B2FB-2CD2612FAC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2113855"/>
                <a:ext cx="1598614" cy="172939"/>
              </a:xfrm>
              <a:custGeom>
                <a:avLst/>
                <a:gdLst>
                  <a:gd name="connsiteX0" fmla="*/ 1248648 w 1598614"/>
                  <a:gd name="connsiteY0" fmla="*/ 172939 h 172939"/>
                  <a:gd name="connsiteX1" fmla="*/ 1123031 w 1598614"/>
                  <a:gd name="connsiteY1" fmla="*/ 92708 h 172939"/>
                  <a:gd name="connsiteX2" fmla="*/ 1024085 w 1598614"/>
                  <a:gd name="connsiteY2" fmla="*/ 29469 h 172939"/>
                  <a:gd name="connsiteX3" fmla="*/ 925140 w 1598614"/>
                  <a:gd name="connsiteY3" fmla="*/ 92708 h 172939"/>
                  <a:gd name="connsiteX4" fmla="*/ 799522 w 1598614"/>
                  <a:gd name="connsiteY4" fmla="*/ 172939 h 172939"/>
                  <a:gd name="connsiteX5" fmla="*/ 799522 w 1598614"/>
                  <a:gd name="connsiteY5" fmla="*/ 172939 h 172939"/>
                  <a:gd name="connsiteX6" fmla="*/ 673905 w 1598614"/>
                  <a:gd name="connsiteY6" fmla="*/ 92708 h 172939"/>
                  <a:gd name="connsiteX7" fmla="*/ 574959 w 1598614"/>
                  <a:gd name="connsiteY7" fmla="*/ 29469 h 172939"/>
                  <a:gd name="connsiteX8" fmla="*/ 476014 w 1598614"/>
                  <a:gd name="connsiteY8" fmla="*/ 92708 h 172939"/>
                  <a:gd name="connsiteX9" fmla="*/ 350396 w 1598614"/>
                  <a:gd name="connsiteY9" fmla="*/ 172939 h 172939"/>
                  <a:gd name="connsiteX10" fmla="*/ 224778 w 1598614"/>
                  <a:gd name="connsiteY10" fmla="*/ 92708 h 172939"/>
                  <a:gd name="connsiteX11" fmla="*/ 125833 w 1598614"/>
                  <a:gd name="connsiteY11" fmla="*/ 29469 h 172939"/>
                  <a:gd name="connsiteX12" fmla="*/ 26887 w 1598614"/>
                  <a:gd name="connsiteY12" fmla="*/ 92708 h 172939"/>
                  <a:gd name="connsiteX13" fmla="*/ 0 w 1598614"/>
                  <a:gd name="connsiteY13" fmla="*/ 80232 h 172939"/>
                  <a:gd name="connsiteX14" fmla="*/ 125618 w 1598614"/>
                  <a:gd name="connsiteY14" fmla="*/ 0 h 172939"/>
                  <a:gd name="connsiteX15" fmla="*/ 251235 w 1598614"/>
                  <a:gd name="connsiteY15" fmla="*/ 80232 h 172939"/>
                  <a:gd name="connsiteX16" fmla="*/ 350181 w 1598614"/>
                  <a:gd name="connsiteY16" fmla="*/ 143471 h 172939"/>
                  <a:gd name="connsiteX17" fmla="*/ 449126 w 1598614"/>
                  <a:gd name="connsiteY17" fmla="*/ 80232 h 172939"/>
                  <a:gd name="connsiteX18" fmla="*/ 574744 w 1598614"/>
                  <a:gd name="connsiteY18" fmla="*/ 0 h 172939"/>
                  <a:gd name="connsiteX19" fmla="*/ 700362 w 1598614"/>
                  <a:gd name="connsiteY19" fmla="*/ 80232 h 172939"/>
                  <a:gd name="connsiteX20" fmla="*/ 799307 w 1598614"/>
                  <a:gd name="connsiteY20" fmla="*/ 143471 h 172939"/>
                  <a:gd name="connsiteX21" fmla="*/ 799307 w 1598614"/>
                  <a:gd name="connsiteY21" fmla="*/ 143471 h 172939"/>
                  <a:gd name="connsiteX22" fmla="*/ 898253 w 1598614"/>
                  <a:gd name="connsiteY22" fmla="*/ 80232 h 172939"/>
                  <a:gd name="connsiteX23" fmla="*/ 1023870 w 1598614"/>
                  <a:gd name="connsiteY23" fmla="*/ 0 h 172939"/>
                  <a:gd name="connsiteX24" fmla="*/ 1149488 w 1598614"/>
                  <a:gd name="connsiteY24" fmla="*/ 80232 h 172939"/>
                  <a:gd name="connsiteX25" fmla="*/ 1248433 w 1598614"/>
                  <a:gd name="connsiteY25" fmla="*/ 143471 h 172939"/>
                  <a:gd name="connsiteX26" fmla="*/ 1347379 w 1598614"/>
                  <a:gd name="connsiteY26" fmla="*/ 80232 h 172939"/>
                  <a:gd name="connsiteX27" fmla="*/ 1472997 w 1598614"/>
                  <a:gd name="connsiteY27" fmla="*/ 0 h 172939"/>
                  <a:gd name="connsiteX28" fmla="*/ 1598614 w 1598614"/>
                  <a:gd name="connsiteY28" fmla="*/ 80232 h 172939"/>
                  <a:gd name="connsiteX29" fmla="*/ 1571942 w 1598614"/>
                  <a:gd name="connsiteY29" fmla="*/ 92708 h 172939"/>
                  <a:gd name="connsiteX30" fmla="*/ 1472997 w 1598614"/>
                  <a:gd name="connsiteY30" fmla="*/ 29469 h 172939"/>
                  <a:gd name="connsiteX31" fmla="*/ 1374051 w 1598614"/>
                  <a:gd name="connsiteY31" fmla="*/ 92708 h 172939"/>
                  <a:gd name="connsiteX32" fmla="*/ 1248648 w 1598614"/>
                  <a:gd name="connsiteY32" fmla="*/ 172939 h 172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614" h="172939">
                    <a:moveTo>
                      <a:pt x="1248648" y="172939"/>
                    </a:moveTo>
                    <a:cubicBezTo>
                      <a:pt x="1194229" y="172939"/>
                      <a:pt x="1146046" y="142180"/>
                      <a:pt x="1123031" y="92708"/>
                    </a:cubicBezTo>
                    <a:cubicBezTo>
                      <a:pt x="1104962" y="53775"/>
                      <a:pt x="1067105" y="29469"/>
                      <a:pt x="1024085" y="29469"/>
                    </a:cubicBezTo>
                    <a:cubicBezTo>
                      <a:pt x="981066" y="29469"/>
                      <a:pt x="943208" y="53775"/>
                      <a:pt x="925140" y="92708"/>
                    </a:cubicBezTo>
                    <a:cubicBezTo>
                      <a:pt x="902124" y="142180"/>
                      <a:pt x="853942" y="172939"/>
                      <a:pt x="799522" y="172939"/>
                    </a:cubicBezTo>
                    <a:cubicBezTo>
                      <a:pt x="799522" y="172939"/>
                      <a:pt x="799522" y="172939"/>
                      <a:pt x="799522" y="172939"/>
                    </a:cubicBezTo>
                    <a:cubicBezTo>
                      <a:pt x="744887" y="172939"/>
                      <a:pt x="696920" y="142180"/>
                      <a:pt x="673905" y="92708"/>
                    </a:cubicBezTo>
                    <a:cubicBezTo>
                      <a:pt x="655836" y="53775"/>
                      <a:pt x="617979" y="29469"/>
                      <a:pt x="574959" y="29469"/>
                    </a:cubicBezTo>
                    <a:cubicBezTo>
                      <a:pt x="531939" y="29469"/>
                      <a:pt x="494082" y="53775"/>
                      <a:pt x="476014" y="92708"/>
                    </a:cubicBezTo>
                    <a:cubicBezTo>
                      <a:pt x="452998" y="142180"/>
                      <a:pt x="405031" y="172939"/>
                      <a:pt x="350396" y="172939"/>
                    </a:cubicBezTo>
                    <a:cubicBezTo>
                      <a:pt x="295976" y="172939"/>
                      <a:pt x="247794" y="142180"/>
                      <a:pt x="224778" y="92708"/>
                    </a:cubicBezTo>
                    <a:cubicBezTo>
                      <a:pt x="206710" y="53775"/>
                      <a:pt x="168853" y="29469"/>
                      <a:pt x="125833" y="29469"/>
                    </a:cubicBezTo>
                    <a:cubicBezTo>
                      <a:pt x="82813" y="29469"/>
                      <a:pt x="44956" y="53775"/>
                      <a:pt x="26887" y="92708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268" y="30759"/>
                      <a:pt x="969235" y="0"/>
                      <a:pt x="1023870" y="0"/>
                    </a:cubicBezTo>
                    <a:cubicBezTo>
                      <a:pt x="1078505" y="0"/>
                      <a:pt x="1126472" y="30759"/>
                      <a:pt x="1149488" y="80232"/>
                    </a:cubicBezTo>
                    <a:cubicBezTo>
                      <a:pt x="1167556" y="119165"/>
                      <a:pt x="1205414" y="143471"/>
                      <a:pt x="1248433" y="143471"/>
                    </a:cubicBezTo>
                    <a:cubicBezTo>
                      <a:pt x="1291453" y="143471"/>
                      <a:pt x="1329311" y="119165"/>
                      <a:pt x="1347379" y="80232"/>
                    </a:cubicBezTo>
                    <a:cubicBezTo>
                      <a:pt x="1370394" y="30759"/>
                      <a:pt x="1418361" y="0"/>
                      <a:pt x="1472997" y="0"/>
                    </a:cubicBezTo>
                    <a:cubicBezTo>
                      <a:pt x="1527632" y="0"/>
                      <a:pt x="1575814" y="30759"/>
                      <a:pt x="1598614" y="80232"/>
                    </a:cubicBezTo>
                    <a:lnTo>
                      <a:pt x="1571942" y="92708"/>
                    </a:lnTo>
                    <a:cubicBezTo>
                      <a:pt x="1553874" y="53775"/>
                      <a:pt x="1515801" y="29469"/>
                      <a:pt x="1472997" y="29469"/>
                    </a:cubicBezTo>
                    <a:cubicBezTo>
                      <a:pt x="1429977" y="29469"/>
                      <a:pt x="1392119" y="53775"/>
                      <a:pt x="1374051" y="92708"/>
                    </a:cubicBezTo>
                    <a:cubicBezTo>
                      <a:pt x="1351251" y="142180"/>
                      <a:pt x="1303069" y="172939"/>
                      <a:pt x="1248648" y="172939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76E3AECF-0782-4578-957B-CDD69EDF6A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1755501"/>
                <a:ext cx="1598829" cy="172724"/>
              </a:xfrm>
              <a:custGeom>
                <a:avLst/>
                <a:gdLst>
                  <a:gd name="connsiteX0" fmla="*/ 1248648 w 1598829"/>
                  <a:gd name="connsiteY0" fmla="*/ 172724 h 172724"/>
                  <a:gd name="connsiteX1" fmla="*/ 1123031 w 1598829"/>
                  <a:gd name="connsiteY1" fmla="*/ 92492 h 172724"/>
                  <a:gd name="connsiteX2" fmla="*/ 1024085 w 1598829"/>
                  <a:gd name="connsiteY2" fmla="*/ 29253 h 172724"/>
                  <a:gd name="connsiteX3" fmla="*/ 925140 w 1598829"/>
                  <a:gd name="connsiteY3" fmla="*/ 92492 h 172724"/>
                  <a:gd name="connsiteX4" fmla="*/ 799522 w 1598829"/>
                  <a:gd name="connsiteY4" fmla="*/ 172724 h 172724"/>
                  <a:gd name="connsiteX5" fmla="*/ 799522 w 1598829"/>
                  <a:gd name="connsiteY5" fmla="*/ 172724 h 172724"/>
                  <a:gd name="connsiteX6" fmla="*/ 673905 w 1598829"/>
                  <a:gd name="connsiteY6" fmla="*/ 92492 h 172724"/>
                  <a:gd name="connsiteX7" fmla="*/ 574959 w 1598829"/>
                  <a:gd name="connsiteY7" fmla="*/ 29253 h 172724"/>
                  <a:gd name="connsiteX8" fmla="*/ 476014 w 1598829"/>
                  <a:gd name="connsiteY8" fmla="*/ 92492 h 172724"/>
                  <a:gd name="connsiteX9" fmla="*/ 350396 w 1598829"/>
                  <a:gd name="connsiteY9" fmla="*/ 172724 h 172724"/>
                  <a:gd name="connsiteX10" fmla="*/ 224778 w 1598829"/>
                  <a:gd name="connsiteY10" fmla="*/ 92492 h 172724"/>
                  <a:gd name="connsiteX11" fmla="*/ 125833 w 1598829"/>
                  <a:gd name="connsiteY11" fmla="*/ 29253 h 172724"/>
                  <a:gd name="connsiteX12" fmla="*/ 26887 w 1598829"/>
                  <a:gd name="connsiteY12" fmla="*/ 92492 h 172724"/>
                  <a:gd name="connsiteX13" fmla="*/ 0 w 1598829"/>
                  <a:gd name="connsiteY13" fmla="*/ 80232 h 172724"/>
                  <a:gd name="connsiteX14" fmla="*/ 125618 w 1598829"/>
                  <a:gd name="connsiteY14" fmla="*/ 0 h 172724"/>
                  <a:gd name="connsiteX15" fmla="*/ 251235 w 1598829"/>
                  <a:gd name="connsiteY15" fmla="*/ 80232 h 172724"/>
                  <a:gd name="connsiteX16" fmla="*/ 350181 w 1598829"/>
                  <a:gd name="connsiteY16" fmla="*/ 143471 h 172724"/>
                  <a:gd name="connsiteX17" fmla="*/ 449126 w 1598829"/>
                  <a:gd name="connsiteY17" fmla="*/ 80232 h 172724"/>
                  <a:gd name="connsiteX18" fmla="*/ 574744 w 1598829"/>
                  <a:gd name="connsiteY18" fmla="*/ 0 h 172724"/>
                  <a:gd name="connsiteX19" fmla="*/ 700362 w 1598829"/>
                  <a:gd name="connsiteY19" fmla="*/ 80232 h 172724"/>
                  <a:gd name="connsiteX20" fmla="*/ 799307 w 1598829"/>
                  <a:gd name="connsiteY20" fmla="*/ 143471 h 172724"/>
                  <a:gd name="connsiteX21" fmla="*/ 799307 w 1598829"/>
                  <a:gd name="connsiteY21" fmla="*/ 143471 h 172724"/>
                  <a:gd name="connsiteX22" fmla="*/ 898253 w 1598829"/>
                  <a:gd name="connsiteY22" fmla="*/ 80232 h 172724"/>
                  <a:gd name="connsiteX23" fmla="*/ 1024085 w 1598829"/>
                  <a:gd name="connsiteY23" fmla="*/ 0 h 172724"/>
                  <a:gd name="connsiteX24" fmla="*/ 1149703 w 1598829"/>
                  <a:gd name="connsiteY24" fmla="*/ 80232 h 172724"/>
                  <a:gd name="connsiteX25" fmla="*/ 1248648 w 1598829"/>
                  <a:gd name="connsiteY25" fmla="*/ 143471 h 172724"/>
                  <a:gd name="connsiteX26" fmla="*/ 1347594 w 1598829"/>
                  <a:gd name="connsiteY26" fmla="*/ 80232 h 172724"/>
                  <a:gd name="connsiteX27" fmla="*/ 1473212 w 1598829"/>
                  <a:gd name="connsiteY27" fmla="*/ 0 h 172724"/>
                  <a:gd name="connsiteX28" fmla="*/ 1598829 w 1598829"/>
                  <a:gd name="connsiteY28" fmla="*/ 80232 h 172724"/>
                  <a:gd name="connsiteX29" fmla="*/ 1572157 w 1598829"/>
                  <a:gd name="connsiteY29" fmla="*/ 92492 h 172724"/>
                  <a:gd name="connsiteX30" fmla="*/ 1473212 w 1598829"/>
                  <a:gd name="connsiteY30" fmla="*/ 29253 h 172724"/>
                  <a:gd name="connsiteX31" fmla="*/ 1374266 w 1598829"/>
                  <a:gd name="connsiteY31" fmla="*/ 92492 h 172724"/>
                  <a:gd name="connsiteX32" fmla="*/ 1248648 w 1598829"/>
                  <a:gd name="connsiteY32" fmla="*/ 172724 h 17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829" h="172724">
                    <a:moveTo>
                      <a:pt x="1248648" y="172724"/>
                    </a:moveTo>
                    <a:cubicBezTo>
                      <a:pt x="1194229" y="172724"/>
                      <a:pt x="1146046" y="141965"/>
                      <a:pt x="1123031" y="92492"/>
                    </a:cubicBezTo>
                    <a:cubicBezTo>
                      <a:pt x="1104962" y="53560"/>
                      <a:pt x="1067105" y="29253"/>
                      <a:pt x="1024085" y="29253"/>
                    </a:cubicBezTo>
                    <a:cubicBezTo>
                      <a:pt x="981066" y="29253"/>
                      <a:pt x="943208" y="53560"/>
                      <a:pt x="925140" y="92492"/>
                    </a:cubicBezTo>
                    <a:cubicBezTo>
                      <a:pt x="902124" y="141965"/>
                      <a:pt x="853942" y="172724"/>
                      <a:pt x="799522" y="172724"/>
                    </a:cubicBezTo>
                    <a:cubicBezTo>
                      <a:pt x="799522" y="172724"/>
                      <a:pt x="799522" y="172724"/>
                      <a:pt x="799522" y="172724"/>
                    </a:cubicBezTo>
                    <a:cubicBezTo>
                      <a:pt x="744887" y="172724"/>
                      <a:pt x="696920" y="141965"/>
                      <a:pt x="673905" y="92492"/>
                    </a:cubicBezTo>
                    <a:cubicBezTo>
                      <a:pt x="655836" y="53560"/>
                      <a:pt x="617979" y="29253"/>
                      <a:pt x="574959" y="29253"/>
                    </a:cubicBezTo>
                    <a:cubicBezTo>
                      <a:pt x="531939" y="29253"/>
                      <a:pt x="494082" y="53560"/>
                      <a:pt x="476014" y="92492"/>
                    </a:cubicBezTo>
                    <a:cubicBezTo>
                      <a:pt x="452998" y="141965"/>
                      <a:pt x="405031" y="172724"/>
                      <a:pt x="350396" y="172724"/>
                    </a:cubicBezTo>
                    <a:cubicBezTo>
                      <a:pt x="295976" y="172724"/>
                      <a:pt x="247794" y="141965"/>
                      <a:pt x="224778" y="92492"/>
                    </a:cubicBezTo>
                    <a:cubicBezTo>
                      <a:pt x="206710" y="53560"/>
                      <a:pt x="168853" y="29253"/>
                      <a:pt x="125833" y="29253"/>
                    </a:cubicBezTo>
                    <a:cubicBezTo>
                      <a:pt x="82813" y="29253"/>
                      <a:pt x="44956" y="53560"/>
                      <a:pt x="26887" y="92492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483" y="30759"/>
                      <a:pt x="969450" y="0"/>
                      <a:pt x="1024085" y="0"/>
                    </a:cubicBezTo>
                    <a:cubicBezTo>
                      <a:pt x="1078720" y="0"/>
                      <a:pt x="1126688" y="30759"/>
                      <a:pt x="1149703" y="80232"/>
                    </a:cubicBezTo>
                    <a:cubicBezTo>
                      <a:pt x="1167771" y="119165"/>
                      <a:pt x="1205629" y="143471"/>
                      <a:pt x="1248648" y="143471"/>
                    </a:cubicBezTo>
                    <a:cubicBezTo>
                      <a:pt x="1291668" y="143471"/>
                      <a:pt x="1329526" y="119165"/>
                      <a:pt x="1347594" y="80232"/>
                    </a:cubicBezTo>
                    <a:cubicBezTo>
                      <a:pt x="1370610" y="30759"/>
                      <a:pt x="1418792" y="0"/>
                      <a:pt x="1473212" y="0"/>
                    </a:cubicBezTo>
                    <a:cubicBezTo>
                      <a:pt x="1527847" y="0"/>
                      <a:pt x="1576029" y="30759"/>
                      <a:pt x="1598829" y="80232"/>
                    </a:cubicBezTo>
                    <a:lnTo>
                      <a:pt x="1572157" y="92492"/>
                    </a:lnTo>
                    <a:cubicBezTo>
                      <a:pt x="1554089" y="53560"/>
                      <a:pt x="1516016" y="29253"/>
                      <a:pt x="1473212" y="29253"/>
                    </a:cubicBezTo>
                    <a:cubicBezTo>
                      <a:pt x="1430192" y="29253"/>
                      <a:pt x="1392335" y="53560"/>
                      <a:pt x="1374266" y="92492"/>
                    </a:cubicBezTo>
                    <a:cubicBezTo>
                      <a:pt x="1351251" y="141965"/>
                      <a:pt x="1303069" y="172724"/>
                      <a:pt x="1248648" y="172724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70AAE9F-D40D-4A06-A542-AB26D8AB9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6676" y="4575280"/>
            <a:ext cx="1781105" cy="1781136"/>
            <a:chOff x="10154385" y="4452524"/>
            <a:chExt cx="1443404" cy="1443428"/>
          </a:xfrm>
          <a:solidFill>
            <a:schemeClr val="bg1"/>
          </a:solidFill>
        </p:grpSpPr>
        <p:grpSp>
          <p:nvGrpSpPr>
            <p:cNvPr id="24" name="Graphic 4">
              <a:extLst>
                <a:ext uri="{FF2B5EF4-FFF2-40B4-BE49-F238E27FC236}">
                  <a16:creationId xmlns:a16="http://schemas.microsoft.com/office/drawing/2014/main" id="{E2BD3D1E-8A78-4CA8-A862-614FD75BD9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0154385" y="4452524"/>
              <a:ext cx="1443404" cy="1443428"/>
              <a:chOff x="5734037" y="3067039"/>
              <a:chExt cx="724483" cy="724489"/>
            </a:xfrm>
            <a:grpFill/>
          </p:grpSpPr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27EF3C4D-D9EE-433E-A50B-6D1B1A4E1B2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067039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FC4F4B86-B0F5-45AB-974A-ED0CF803801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1ABCCAB6-2C8F-45DC-A8D3-12AE864BCF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B77B7A98-FF5E-4AE2-AA18-F9CD647D24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1BEEA99B-FA00-47DF-A8C6-42E565ACBA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9A3073AA-0C95-49D3-ABEB-360AC0DA78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ADDC6101-D1BA-45AD-975E-6D22FBBC8A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7F7FF84E-A790-449D-A30F-A2B32897BB7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26284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BFAC3AB9-2115-4ABC-8F2B-669140D4BA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2628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12209916-8238-47D3-8470-C3B6748DE3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342C4170-32C9-45C4-9A3E-3B9DFBDAB5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252EA0E9-92FF-4BC7-B847-6782E38D96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C5C774B-5471-455E-9173-6114DFF3ED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12628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8 w 14097"/>
                  <a:gd name="connsiteY1" fmla="*/ 14097 h 14097"/>
                  <a:gd name="connsiteX2" fmla="*/ 0 w 14097"/>
                  <a:gd name="connsiteY2" fmla="*/ 7049 h 14097"/>
                  <a:gd name="connsiteX3" fmla="*/ 7048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F8A27BFB-E943-4C45-BFA2-B1FB44802D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E10E74B4-0649-4165-A42B-5188136CB2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8543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285DD857-084E-445B-9D21-3DDF484AE3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858EAED4-7030-4F02-8735-86B2D41F00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FD206B85-4DBA-4A1C-BE5E-9AC09D3E85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A9828E4E-D18A-4EB3-AA0E-6A694BAA60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242BFF0C-9960-4037-8875-982CC6AB3B0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FDC46289-4813-4C66-B74D-DA89EB5C7A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DD12BBDD-E5E4-4866-BA7D-575AA15AFA2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24467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CC7933B6-91C1-49F7-A1D2-E4C9264C71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244677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80F77AE0-80D0-441D-8610-15A87072DB2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369F67A5-04FD-4DC3-B5FE-E293F1D8FF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7D2FE5A5-00D9-4B46-B9C0-DF029A2137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77863FE7-D2C9-4943-8569-6BF49B87CC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24467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A0020B1F-76BE-46B2-8D5F-A8BD90E97B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ABB9081A-5442-44FE-B224-BDBCB08C9B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0382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F93E179E-A593-4559-96EE-A0B232C5E1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34DF0844-A707-4E91-9663-D229B49F5B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C2450B49-EEBA-44E1-A402-CDDFAA21BC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A588BB7B-0B7E-44B5-BFD9-EA98377B0B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69A29819-A120-4DE3-9885-6C9ABDEBF91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5A47B4D1-A1E7-440C-9756-62F1319981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6E37264B-D746-4A84-A8D8-C8BB60C5F4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63074"/>
                <a:ext cx="14192" cy="14097"/>
              </a:xfrm>
              <a:custGeom>
                <a:avLst/>
                <a:gdLst>
                  <a:gd name="connsiteX0" fmla="*/ 14192 w 14192"/>
                  <a:gd name="connsiteY0" fmla="*/ 7048 h 14097"/>
                  <a:gd name="connsiteX1" fmla="*/ 7144 w 14192"/>
                  <a:gd name="connsiteY1" fmla="*/ 14097 h 14097"/>
                  <a:gd name="connsiteX2" fmla="*/ 0 w 14192"/>
                  <a:gd name="connsiteY2" fmla="*/ 7048 h 14097"/>
                  <a:gd name="connsiteX3" fmla="*/ 7049 w 14192"/>
                  <a:gd name="connsiteY3" fmla="*/ 0 h 14097"/>
                  <a:gd name="connsiteX4" fmla="*/ 14192 w 14192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4A6A55C8-81FC-4BC1-8D9D-989098291E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25BEED62-890A-4F76-8976-0806912852D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CEDB6363-D238-497C-9F62-70C37943788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E8AE52A3-EEF4-4363-8348-F0193090BD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42E43346-6294-4571-8009-00559220AA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63074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8 w 14097"/>
                  <a:gd name="connsiteY1" fmla="*/ 14097 h 14097"/>
                  <a:gd name="connsiteX2" fmla="*/ 0 w 14097"/>
                  <a:gd name="connsiteY2" fmla="*/ 7048 h 14097"/>
                  <a:gd name="connsiteX3" fmla="*/ 7048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4C9FF21F-0A57-48BD-AFA2-812BDA4AE14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92CE44D1-4355-4EA0-85D9-46B2BD634E2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2222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E05932D9-8C08-487C-BE8D-CE8D90DBE2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1956F062-CFDF-41C0-BF81-910A593926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6EE30713-2557-4E2C-B23E-A4335296BD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713ADC1F-8ACA-4FC6-923D-A7D07F151E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9516A6B3-73B6-4736-BAD3-1BA9B19BBD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66C9B3A2-34F8-463A-8F26-2DB41BC486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D2681A1B-C5B4-4180-B839-F42F15609F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6953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09B73E73-CAF5-466C-B476-F442DA3F69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47DE2FFA-2AEC-4E3C-9BB5-0B4FA9B13C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9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707A7E41-23E9-4C4C-8C40-86AC4A286A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E0EEF3BF-23B8-4558-9496-3FBC0D450F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F23B0DE3-79D7-4B51-AA85-1D78E1D125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66A6C48D-B42A-4213-967E-3F0F31F368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26281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460D8262-916E-4A41-9DA7-0416B07C170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BDA74C8E-A290-4214-9CDC-7C81E2D300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06F0FC8C-B053-49A4-85D1-D02E6ACC09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EF6E20D1-B75B-4109-9863-CDF7D7B9C4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CD825563-95D0-4AF8-B76F-C3D9E5B85ED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2628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E4808768-DD68-41FD-B6C9-92A21F8568F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85433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5443C4E4-B94D-4A0F-91E2-EAEEE4333B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A7BE49C3-DF3E-40D7-AA79-31FF796D8E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296FD384-B102-4DC5-B7F8-C9CFCAFEF2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761B0F50-29B0-4715-89EA-3D67D66E99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02EE7645-22B2-4AE6-BE83-268CF9FA94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85432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0FCB045A-2D48-4F00-9BBE-AE4801A711C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244676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64C1897B-BBF3-4B8D-9EFD-B58FB97AD6E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8F33C9FF-51FD-4E01-A7D6-DA07904BC0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1038A907-28E4-4AC5-A3DF-03B30DDB2D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E3BE620C-6DA4-4783-88DF-F2554F8E70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215C33E5-3C0F-413D-955F-910161E8B1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24467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D326348F-BB03-4656-B017-00439FE3EC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20055F29-A753-4AFE-AF14-DFDE3DE48E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657EA5FB-E669-4025-9D5B-6DF78AE480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CBD49CA9-1E94-44AC-B174-9A93372738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558FC163-7C80-4AC8-87B6-AD07A9631F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FB938ED2-0548-468C-AB68-669B0C1572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4B558214-CC40-4472-A55E-779E4D2ADBD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9FA37504-C92A-4150-9A6B-9B980E25CC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F932921F-34B0-4977-B152-3334098832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CAA972F9-99BB-44A2-8161-84EC4C4E1B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B070033F-E82A-4F69-8BE0-33B88CB6C4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5B8CB3D3-5CC3-46BA-B938-EFE5283D5C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63074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C4515117-6988-4803-B47E-D964DC19FE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0FFD108F-3434-4F6A-B5DF-B216E81021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A74122B8-F9B6-4E3A-81B2-48070B698FE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8CCA48B6-1BF9-443C-B83F-BA73DC92E7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BF6BF308-DD11-454B-9506-CB8767656D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FD69DFD3-74B3-4FFE-A6B0-2785452F6F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4222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70235D33-B714-484D-A828-A1C2B9DA2D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81374"/>
                <a:ext cx="14192" cy="14096"/>
              </a:xfrm>
              <a:custGeom>
                <a:avLst/>
                <a:gdLst>
                  <a:gd name="connsiteX0" fmla="*/ 14192 w 14192"/>
                  <a:gd name="connsiteY0" fmla="*/ 7049 h 14096"/>
                  <a:gd name="connsiteX1" fmla="*/ 7144 w 14192"/>
                  <a:gd name="connsiteY1" fmla="*/ 14097 h 14096"/>
                  <a:gd name="connsiteX2" fmla="*/ 0 w 14192"/>
                  <a:gd name="connsiteY2" fmla="*/ 7049 h 14096"/>
                  <a:gd name="connsiteX3" fmla="*/ 7049 w 14192"/>
                  <a:gd name="connsiteY3" fmla="*/ 0 h 14096"/>
                  <a:gd name="connsiteX4" fmla="*/ 14192 w 14192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1049"/>
                      <a:pt x="0" y="7049"/>
                    </a:cubicBezTo>
                    <a:cubicBezTo>
                      <a:pt x="0" y="3048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1B39A86E-3D93-4519-8339-AF2E16F48A1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A473D478-5749-4AB9-84D3-B6FD2F7E3E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CD8CFC12-D4F6-4413-A980-9555DB05F9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D22FB6AD-7251-460C-8F68-EC9A30FE14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196CEA23-5605-4C36-BCE1-43F7BC7E62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F1F2BD5B-1A74-4E54-8D22-8B01306D28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CB5096C-92D4-4D92-BE5E-DC9F8CE875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4062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4E952EA9-6EEB-4188-8280-B5941B54B2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CAF3A5A9-96B1-4099-A611-0343087806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690DDC6-840C-4039-A44E-2C9D11454E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445CEA-D59C-477B-84A8-7163839581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1D84F960-F314-41FE-8E0C-9B8DE8B5C3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F23074B2-0A5D-42D1-914E-A60316556F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6ACE5B8D-E475-4895-896B-97717639DC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9977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D63AD73B-CAD9-48E0-89E1-1F531A9F72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8F67E191-9D6E-46DA-982D-34D686BF6C8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A3B9058F-A876-4D14-994D-2999554CF7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930DC04D-63F7-4A8B-8BA0-EBB37FBCE1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DCAA7B2F-CAA7-487C-B9C3-550DCBD496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A51E6295-56F4-4B47-9703-8B5C833054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FC66FAB9-F717-484C-9F47-ABFBC94A72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7" y="365901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DA704F57-9070-4439-B6BB-136279857C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2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66BD4C2A-A544-4628-B9B4-BC803609C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2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CE9A844C-1080-4183-A980-8E2982155B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92348B29-40E9-4CE2-A23C-9360144735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9BB11EDA-F6E1-45BA-B49F-7ABDD656E9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F441DFD2-327A-4071-9249-BCAEF800DA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304F0367-9F6D-4C5F-9818-3CC35C87A4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9" y="371816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C967B7DB-7330-4692-AA81-CAFC51606A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57F65263-2AFD-44AD-AD61-23EC3085CD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4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BD4C27B8-A29B-4575-9EC4-A1B7DC079A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69107FDD-0652-42DE-97A0-264223E6D9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13688F79-032F-4291-869C-3C26B5E9F92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661A607F-AD34-4B38-87EF-D0AFBDDF3A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5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5694E08C-39BB-4792-B645-37D3E63B7D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40" y="377741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0167048B-FB7B-4B7A-B679-D7974FF515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5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4926B316-063E-4D72-AC12-F0953B3204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6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9772A1FC-2C0F-47A6-83D6-9A4A7973D12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83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4DF32C85-4E56-4356-AE0F-2C8D278F01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35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80ACC557-85EF-41DC-B9EC-B0C63F45201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82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13640E5B-764E-4718-975F-3E620288A8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31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16A2EF26-7944-4D17-96AE-ABC43243A3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481374"/>
                <a:ext cx="14097" cy="14096"/>
              </a:xfrm>
              <a:custGeom>
                <a:avLst/>
                <a:gdLst>
                  <a:gd name="connsiteX0" fmla="*/ 14097 w 14097"/>
                  <a:gd name="connsiteY0" fmla="*/ 7049 h 14096"/>
                  <a:gd name="connsiteX1" fmla="*/ 7049 w 14097"/>
                  <a:gd name="connsiteY1" fmla="*/ 14097 h 14096"/>
                  <a:gd name="connsiteX2" fmla="*/ 0 w 14097"/>
                  <a:gd name="connsiteY2" fmla="*/ 7049 h 14096"/>
                  <a:gd name="connsiteX3" fmla="*/ 7049 w 14097"/>
                  <a:gd name="connsiteY3" fmla="*/ 0 h 14096"/>
                  <a:gd name="connsiteX4" fmla="*/ 14097 w 14097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5A1A1B38-0AEF-44DE-B6A5-0B60A59FC4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B94D0D12-8DCC-41BF-9225-D72CF3DF56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9 w 14096"/>
                  <a:gd name="connsiteY1" fmla="*/ 14097 h 14096"/>
                  <a:gd name="connsiteX2" fmla="*/ 0 w 14096"/>
                  <a:gd name="connsiteY2" fmla="*/ 7049 h 14096"/>
                  <a:gd name="connsiteX3" fmla="*/ 7049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B9E43D6F-7890-4F99-B7CE-C30DBDEA2D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82E7692B-A0A5-4B63-9E78-B255FCBAD1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D947BA6F-304B-47B9-913C-6EF6D22B1B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48137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73AA783A-6086-4C47-8151-6085EADB0F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40622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CCB3DC39-E9B5-49ED-B30E-2FB5651CE6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4062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F1AB56F4-B1CC-4680-ACEF-B87EAA7DDD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406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433FE7BD-2D20-45C5-A447-5F0E933734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4062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59D9EB2A-0CB8-463E-8313-3470C29C4B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4063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6AE0C53E-D056-4795-A700-7EBC6C9AE3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40631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93FCCD7-1DE2-4D8D-9071-88B245ED52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99781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8A140C86-8820-4678-B15E-7AECBF59A8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BC8E0EB-69E1-484B-AE06-E57C908595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FBC0FD0C-82A7-44BF-A997-0A9CA418AF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A7390762-8393-4F33-80E6-21BA751334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9978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81B7B85A-833F-464A-939B-149F84E40ED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9978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F485BF70-0F08-4E17-AFD1-6C5C7B258B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659026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13C387DD-897C-4282-BEED-6E0BE32860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1C79F195-D52B-4E48-A9FF-F074256119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F445D0FA-966F-400A-AC8D-8CAAF02E6A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376ECD94-6896-441C-AA44-A4F57F0219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FC92C350-CAD6-4C2E-A65E-E94F58C3728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E71598A5-7F8D-4836-B6FC-F1D1582785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718177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BDCB0F85-A6C5-4E65-8F0A-52671EB3D5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87FFBD54-2EF4-448F-96C7-157A3C6AD3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CAEA2FD7-C9B8-45B4-BEFC-977053FBB2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FF912821-388F-422F-B692-31B5E6DE7E2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71817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F263D211-562D-46EA-AE01-7B1EDBF713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71817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800610A8-10E1-40B1-ABDE-A9D3EEADD1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2" y="3777419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764A3047-3F92-4E69-A680-416CC114BC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2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7F1FA955-903A-430D-A1DA-7E6E303A1B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8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6BC0288C-46CF-46BB-BF88-CFA8B1D85F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4" y="3777383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2867B317-CCCD-4EC7-8406-314DB7830C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87" y="377742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3CEEC945-6738-47C2-88E6-DB29BE3EBE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24" y="37774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25" name="Graphic 4">
              <a:extLst>
                <a:ext uri="{FF2B5EF4-FFF2-40B4-BE49-F238E27FC236}">
                  <a16:creationId xmlns:a16="http://schemas.microsoft.com/office/drawing/2014/main" id="{620CB8D1-CE41-4A5C-8FD5-DACED65531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0154385" y="4452524"/>
              <a:ext cx="1443404" cy="1443428"/>
              <a:chOff x="5734037" y="3067039"/>
              <a:chExt cx="724483" cy="724489"/>
            </a:xfrm>
            <a:grpFill/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EA5E2DDF-06EC-428F-9085-5AE5B2F33E5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067039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6579F314-5DE2-47CC-A508-6E15B3B879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C969A4AD-8589-4A96-8118-DE73000C47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20A98F31-9A68-46C2-A001-8011DF7C49A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9B442335-3E37-40C9-9E08-8D7931CC99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E846DFE3-FEC9-4DBF-9290-F60816F8A2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9BD31C12-2164-410B-9A3A-6C1BEEA5BDF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DF87D878-021F-4966-9031-5203868AA43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26284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A1927FB0-8581-4B00-B542-1426415D58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2628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F11076EE-3A40-4B54-B1F7-555E6831B64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4315A147-8A55-4B74-8F80-58B50585E0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C918AFBC-933F-4220-A164-BA4B40B4DF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53814E64-DB41-47BE-9E6E-F40AC4A82F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12628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8 w 14097"/>
                  <a:gd name="connsiteY1" fmla="*/ 14097 h 14097"/>
                  <a:gd name="connsiteX2" fmla="*/ 0 w 14097"/>
                  <a:gd name="connsiteY2" fmla="*/ 7049 h 14097"/>
                  <a:gd name="connsiteX3" fmla="*/ 7048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6DC1BF4C-B973-4D6F-AF0E-EA5838A1DB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8F9E73A9-D8DE-4FB2-BCA9-D07DD7A2E1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8543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0B2FF232-F7ED-4A4E-A36D-94E7B24F37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E058CFC5-FAB0-40DD-9B58-D7A64EF01F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B7C79FDB-284E-41FB-A93C-3A6A4F9488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706A4151-1369-4294-824A-70C8F929FC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B9396E5-7245-48DA-AA32-5AB0842B7E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066EB7EE-D151-4B68-B14C-1C54DF2B18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FF4EDA4A-9471-4A70-9A00-B1A66B5E1B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24467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04799963-01EB-401F-8BFD-6CDF641B5C2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244677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04CB3DF6-6D3D-40C5-B741-F2D83DD79E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CA7B3897-3CBB-49E3-90EC-96E63DD9A8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E37DB1E2-1825-47B1-9E89-634473EF505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D2052410-9234-4B80-B825-7F91A5D615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24467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08E7CB48-0744-4DF2-86B6-3335F38E6A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CEB74DCF-332B-4BD3-B036-4A133327A2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0382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91B69718-3DD4-4F38-81E1-2342692AFF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D5CE2490-5C33-412B-B444-D335E3AE8D1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328ABF3-0C84-459E-B986-7DCD455B6C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37381077-83CF-4050-A5F3-8C33C6E707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20C082F-B414-4A4B-82AB-CE86C925CA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0B3086F2-6938-4EB0-9EC8-B829D1E9F2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5E9F8385-761F-44AF-8AC6-CDBA79A52D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63074"/>
                <a:ext cx="14192" cy="14097"/>
              </a:xfrm>
              <a:custGeom>
                <a:avLst/>
                <a:gdLst>
                  <a:gd name="connsiteX0" fmla="*/ 14192 w 14192"/>
                  <a:gd name="connsiteY0" fmla="*/ 7048 h 14097"/>
                  <a:gd name="connsiteX1" fmla="*/ 7144 w 14192"/>
                  <a:gd name="connsiteY1" fmla="*/ 14097 h 14097"/>
                  <a:gd name="connsiteX2" fmla="*/ 0 w 14192"/>
                  <a:gd name="connsiteY2" fmla="*/ 7048 h 14097"/>
                  <a:gd name="connsiteX3" fmla="*/ 7049 w 14192"/>
                  <a:gd name="connsiteY3" fmla="*/ 0 h 14097"/>
                  <a:gd name="connsiteX4" fmla="*/ 14192 w 14192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09AADCB5-90F3-4C5F-97B2-73CFF780AE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ABB6628B-E9D0-4651-8570-CF1E5DB026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34C9E771-C0D9-4027-96D7-651E8B7361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380B5730-FEEA-409B-9D23-066B99E31B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B4A9FBAD-235A-4A0F-8C54-15633CCAFF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63074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8 w 14097"/>
                  <a:gd name="connsiteY1" fmla="*/ 14097 h 14097"/>
                  <a:gd name="connsiteX2" fmla="*/ 0 w 14097"/>
                  <a:gd name="connsiteY2" fmla="*/ 7048 h 14097"/>
                  <a:gd name="connsiteX3" fmla="*/ 7048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BF2F6746-8E16-406D-835E-5FCE6D4F07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4FADF2DF-4564-4627-AA45-85EFB708291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2222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3D4185DD-65EF-442E-935F-90BDEB5E82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0B30569E-CF14-4DF4-AE71-046DC42001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ADC6272B-8E87-4AF5-A668-16EC7F3C4E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95404AC5-86D6-4864-BE91-84B6F66D57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0283DF22-5559-4FAB-A06F-CDB1F9C996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F82E770A-E6CC-441E-A6A9-47A33BF503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32C89056-2DB3-4565-8418-63EE598E0C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6953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A81C1B01-00CC-4C39-A005-8544974B93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EC8F3F3D-5E7B-4168-BA7B-09B22C878A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9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BB09AD41-8582-44F1-A4DB-8C4ECC1D6A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EEF98626-AA8E-4ABF-A29A-89C159D70B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8A910E73-8115-449D-91BC-4BFD85100B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2BA84EC5-ADB4-412B-9D7F-785CA24046B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26281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1EAEE025-D974-498D-B276-E887588BFB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C0A6777F-C322-4CFA-B4FA-C98FF4CBF6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6C45B00F-D649-44DC-9CB3-04C5A6CB86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14D681DB-7395-46C8-A277-8D5478BA84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2FF0C982-758E-46DD-88BE-0B1087F201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2628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AC91889-4175-4937-A495-37094F3EEB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85433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79B67AE9-E5D6-4FA2-AFB6-73EB860099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DA158CC5-EE56-492A-A095-77324472D8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2547278D-FC88-4AB6-8C3C-EEF9282F3E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D0EC49A0-0827-49E5-89C4-F56299A5DF2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9B2514B8-CBE5-40F8-85F8-8B9D514F53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85432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89206225-1385-42CD-A435-03C6731B51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244676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516C97D0-ECDA-4BE7-B7B0-104FBAC6E4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79F18E51-9DC0-4458-85F4-8DB85B23C1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18150D47-30EF-4F80-A28C-F206A8E152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9146AF03-B828-49EB-A7CE-81D57EA9BB3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7CD96A2B-A3CD-4992-97C7-7F47A2A399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24467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D0A0D10A-D5BB-4580-91C6-15338B079CC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2B73C84D-0C6C-4AF8-9DAB-89DF1E4F89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DD66FFFF-5665-44A0-AA5E-7220E985AC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477FB038-24D7-43B0-955A-DCC0332B5D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A17227F-E9D3-4A51-9DF0-DFD909AB3F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55E6B883-1C1C-40DF-A620-22CC48A9A1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07EC08BD-662A-486F-BA39-0A9F368A63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31A6E4DA-A497-400B-ADFB-11B80E5E0D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CDD443E5-430F-4F57-A4ED-2BCF8E0C7C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F736045A-DB37-4982-96ED-70BEEEC7CFE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C1805AD9-942F-480F-A92D-B71F17B653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35A6E50-B827-447C-A1E3-243CB09BB1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63074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8A99C9B0-BE26-498B-BF80-39E5CC621E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3699857B-7AC7-4686-91B1-0F634DB5A0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EAD66306-06A7-4198-B997-F9B8B8AF84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173378AC-6515-495C-A818-4A41463E45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A9203926-2967-431A-9A3A-80ADDF9A2D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C0F60567-9012-4A1A-81DF-87B661B62F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4222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C1BE4E4-B943-411F-A103-BCDC29AF0E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81374"/>
                <a:ext cx="14192" cy="14096"/>
              </a:xfrm>
              <a:custGeom>
                <a:avLst/>
                <a:gdLst>
                  <a:gd name="connsiteX0" fmla="*/ 14192 w 14192"/>
                  <a:gd name="connsiteY0" fmla="*/ 7049 h 14096"/>
                  <a:gd name="connsiteX1" fmla="*/ 7144 w 14192"/>
                  <a:gd name="connsiteY1" fmla="*/ 14097 h 14096"/>
                  <a:gd name="connsiteX2" fmla="*/ 0 w 14192"/>
                  <a:gd name="connsiteY2" fmla="*/ 7049 h 14096"/>
                  <a:gd name="connsiteX3" fmla="*/ 7049 w 14192"/>
                  <a:gd name="connsiteY3" fmla="*/ 0 h 14096"/>
                  <a:gd name="connsiteX4" fmla="*/ 14192 w 14192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1049"/>
                      <a:pt x="0" y="7049"/>
                    </a:cubicBezTo>
                    <a:cubicBezTo>
                      <a:pt x="0" y="3048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8F230BF9-4B8A-4479-B197-83AA90D84C3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F64D3FA3-2702-4732-A545-29A65184DD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59DE7572-DB33-4A77-B082-96E36A6196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A2B8418A-24D1-4998-949F-BAEBE54CA3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596AFA95-4288-45C6-8385-D30F8C82217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061C74E7-2DA4-47FE-A604-4CAE7426A2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49948CD9-6639-4D61-84AD-9888621969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4062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E50D3989-13DF-4E94-9702-7CA27CE585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DBA4DD0C-2E69-4365-8750-37BF2BD8A2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38B2F783-8850-437D-AD52-62F4EFE868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6C32D6E8-869E-4CBF-9409-124D3FAD39C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28C44847-ACE1-4D0D-B2B1-5E433166E3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400A772C-C03A-42DC-B0A7-F0DFC7F83D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BF55ACF2-1DAF-4BAD-98D9-7B74114067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9977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B8457AE1-96AA-479D-B76B-E62113204B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1C4F22AD-9264-4746-9908-F88858B7FA0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B25671A-8A56-49F6-802A-1CBA58FF87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A8875C06-A53D-4C2E-AAB0-2FBC5A1678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6F5F71D6-3D74-4013-8BD6-7E52F6DE50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B41736BF-619F-402B-B70E-089811060A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51A1F261-EEC0-4F95-B854-1454E3CF37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7" y="365901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F7DE06E0-C362-485D-8F89-44FDBBAFF8C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2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54822EF5-4772-42F0-A59B-04AB882D75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2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712CE3F4-4BC0-495F-9973-C58EC6CD6A3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11274400-B083-4CEF-804B-9EBF7CCAAD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9945F450-B42E-4DA2-9C76-BA1F38AF31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A853A096-C1AB-4E3C-8B35-D682A008A5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75F8D171-62A5-4073-97CB-4E59015698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9" y="371816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DC99FCCD-BBB6-40F1-B331-659509ED7C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60E3381B-598B-490B-8F81-584CB96089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4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5B8A6BEE-872E-41B4-AAF7-121594E054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BF66EF2A-00A9-46F3-9710-6ADBD3D544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A0432490-5DE8-4D81-B39C-B44CE1C47C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D48F6BC8-EABA-4287-8FCC-8BC7CD06DF1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5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623E8D30-1C78-41D4-97C9-63646BD99EF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40" y="377741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C3167F67-0621-408A-A29A-A4536450C3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5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9A19AC3E-362D-4172-97EF-45598CB5FF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6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5B76F033-FB8A-48DB-8951-F527972A6E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83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E832F524-84B7-44E4-9494-0969759A2D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35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05782180-F16A-4A8B-A276-5E38F741B7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82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34157406-E447-440D-9BCB-CA3D365A00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31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36D42F35-9B1B-469C-999F-7CEB42F4C8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481374"/>
                <a:ext cx="14097" cy="14096"/>
              </a:xfrm>
              <a:custGeom>
                <a:avLst/>
                <a:gdLst>
                  <a:gd name="connsiteX0" fmla="*/ 14097 w 14097"/>
                  <a:gd name="connsiteY0" fmla="*/ 7049 h 14096"/>
                  <a:gd name="connsiteX1" fmla="*/ 7049 w 14097"/>
                  <a:gd name="connsiteY1" fmla="*/ 14097 h 14096"/>
                  <a:gd name="connsiteX2" fmla="*/ 0 w 14097"/>
                  <a:gd name="connsiteY2" fmla="*/ 7049 h 14096"/>
                  <a:gd name="connsiteX3" fmla="*/ 7049 w 14097"/>
                  <a:gd name="connsiteY3" fmla="*/ 0 h 14096"/>
                  <a:gd name="connsiteX4" fmla="*/ 14097 w 14097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8A4EEFF2-05CF-4C27-B386-A0E5DCD63A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ED3EEF5A-B20A-42C7-A575-5E2655BA88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9 w 14096"/>
                  <a:gd name="connsiteY1" fmla="*/ 14097 h 14096"/>
                  <a:gd name="connsiteX2" fmla="*/ 0 w 14096"/>
                  <a:gd name="connsiteY2" fmla="*/ 7049 h 14096"/>
                  <a:gd name="connsiteX3" fmla="*/ 7049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A46A893E-1A0C-40BF-AB34-831A41DDCA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6157AAD3-7E95-41BF-8073-F6F78BA164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24E5F5D2-D8B5-4D70-B617-B5029CA641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48137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E04ECE8A-8657-4D32-AD7E-B1058D0F7FF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40622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57990A80-1E83-4C43-B61D-4CB71B2CD7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4062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2226514-799A-43F7-A5A3-6753D7BE8C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406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092572FA-6D1F-42B1-BEE7-46DC341D2B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4062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F7870CB6-417E-416A-8307-E48C0A6A25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4063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F1EFCC94-4633-4464-8D4C-2EF4454D93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40631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37B2F8A5-8637-4CCA-B44D-8844E60191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99781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B0EA5452-15FD-43AB-8AC3-3C5C9BB2D5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0CFF3735-E718-4E54-A53D-B56B16207BC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C6087547-39E2-4056-8173-171D1B1D7CE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B5C5BAD6-F152-46DD-87A7-62F3BDB9D4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9978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3B07F977-B52E-43E1-8030-6B46F7E807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9978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3120570F-B852-4D3C-8E2C-965B514435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659026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019A7E82-47E0-4A90-BB03-E662E4F828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623437BB-CD62-411D-B155-CF1B830F05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3DC4DD6A-A1ED-41B9-99FB-4D75C409AB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E6F33FC1-BFE0-4A5D-9675-2DAFE11277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CC7BBB4D-B45F-4D85-ADB0-AE2D0E8441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BF25838A-853B-4F5F-A10F-CD54217F02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718177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C471161E-04D5-495C-9104-22CF3ED824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DFDFEF08-9D16-47C5-B413-C7BA090E9F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254CA655-0F8E-46A3-AE85-F020BB071F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A631A92A-3002-4BD3-B9AF-B0D7EF77E6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71817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CB0D363-B41D-4BB8-8F85-D183BF85BF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71817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097B2CE1-2117-42A1-B721-1FD442E686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2" y="3777419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300878E3-A086-4922-AD6A-2D2A94CA2F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2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73F37BA0-1202-4528-973C-06E260C8B7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8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98FCD65C-13F5-4B2B-B39B-7153A0F64C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4" y="3777383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AED6E0B7-C4E5-47DB-B2F4-A6130DA93F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87" y="377742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F6A91E1B-7F17-409B-8020-6F9E259D1C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24" y="37774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DFC8092-4130-8552-9D4B-48503E9B2C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5874626"/>
              </p:ext>
            </p:extLst>
          </p:nvPr>
        </p:nvGraphicFramePr>
        <p:xfrm>
          <a:off x="6012180" y="1569721"/>
          <a:ext cx="5615939" cy="2842258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2007119">
                  <a:extLst>
                    <a:ext uri="{9D8B030D-6E8A-4147-A177-3AD203B41FA5}">
                      <a16:colId xmlns:a16="http://schemas.microsoft.com/office/drawing/2014/main" val="867086031"/>
                    </a:ext>
                  </a:extLst>
                </a:gridCol>
                <a:gridCol w="1636954">
                  <a:extLst>
                    <a:ext uri="{9D8B030D-6E8A-4147-A177-3AD203B41FA5}">
                      <a16:colId xmlns:a16="http://schemas.microsoft.com/office/drawing/2014/main" val="2290634188"/>
                    </a:ext>
                  </a:extLst>
                </a:gridCol>
                <a:gridCol w="1971866">
                  <a:extLst>
                    <a:ext uri="{9D8B030D-6E8A-4147-A177-3AD203B41FA5}">
                      <a16:colId xmlns:a16="http://schemas.microsoft.com/office/drawing/2014/main" val="2812011124"/>
                    </a:ext>
                  </a:extLst>
                </a:gridCol>
              </a:tblGrid>
              <a:tr h="3836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solidFill>
                            <a:schemeClr val="bg1"/>
                          </a:solidFill>
                        </a:rPr>
                        <a:t>Rol</a:t>
                      </a:r>
                    </a:p>
                  </a:txBody>
                  <a:tcPr marL="72244" marR="72244" marT="36122" marB="36122" anchor="ctr"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 err="1">
                          <a:solidFill>
                            <a:schemeClr val="bg1"/>
                          </a:solidFill>
                        </a:rPr>
                        <a:t>Acces</a:t>
                      </a:r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marL="72244" marR="72244" marT="36122" marB="36122" anchor="ctr"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 err="1">
                          <a:solidFill>
                            <a:schemeClr val="bg1"/>
                          </a:solidFill>
                        </a:rPr>
                        <a:t>Descriere</a:t>
                      </a:r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marL="72244" marR="72244" marT="36122" marB="36122" anchor="ctr"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144065"/>
                  </a:ext>
                </a:extLst>
              </a:tr>
              <a:tr h="11682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solidFill>
                            <a:schemeClr val="bg1"/>
                          </a:solidFill>
                        </a:rPr>
                        <a:t>Admin</a:t>
                      </a:r>
                    </a:p>
                  </a:txBody>
                  <a:tcPr marL="72244" marR="72244" marT="36122" marB="36122" anchor="ctr"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</a:rPr>
                        <a:t>complet</a:t>
                      </a:r>
                    </a:p>
                  </a:txBody>
                  <a:tcPr marL="72244" marR="72244" marT="36122" marB="36122" anchor="ctr"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b="0" dirty="0">
                          <a:solidFill>
                            <a:schemeClr val="bg1"/>
                          </a:solidFill>
                        </a:rPr>
                        <a:t>gestionează baza de date, antrenarea modelului</a:t>
                      </a:r>
                    </a:p>
                  </a:txBody>
                  <a:tcPr marL="72244" marR="72244" marT="36122" marB="36122" anchor="ctr"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294306"/>
                  </a:ext>
                </a:extLst>
              </a:tr>
              <a:tr h="6451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</a:rPr>
                        <a:t>Utilizator standard</a:t>
                      </a:r>
                    </a:p>
                  </a:txBody>
                  <a:tcPr marL="72244" marR="72244" marT="36122" marB="36122" anchor="ctr"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>
                          <a:solidFill>
                            <a:schemeClr val="bg1"/>
                          </a:solidFill>
                        </a:rPr>
                        <a:t>interfață text + vizualizare 3D</a:t>
                      </a:r>
                    </a:p>
                  </a:txBody>
                  <a:tcPr marL="72244" marR="72244" marT="36122" marB="36122" anchor="ctr"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b="0">
                          <a:solidFill>
                            <a:schemeClr val="bg1"/>
                          </a:solidFill>
                        </a:rPr>
                        <a:t>dă comenzi și generează forme</a:t>
                      </a:r>
                    </a:p>
                  </a:txBody>
                  <a:tcPr marL="72244" marR="72244" marT="36122" marB="36122" anchor="ctr"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996062"/>
                  </a:ext>
                </a:extLst>
              </a:tr>
              <a:tr h="6451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>
                          <a:solidFill>
                            <a:schemeClr val="bg1"/>
                          </a:solidFill>
                        </a:rPr>
                        <a:t>Student/</a:t>
                      </a:r>
                      <a:r>
                        <a:rPr lang="en-US" sz="1400" b="0" dirty="0" err="1">
                          <a:solidFill>
                            <a:schemeClr val="bg1"/>
                          </a:solidFill>
                        </a:rPr>
                        <a:t>Profesor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</a:rPr>
                        <a:t> FIIR</a:t>
                      </a:r>
                    </a:p>
                  </a:txBody>
                  <a:tcPr marL="72244" marR="72244" marT="36122" marB="36122" anchor="ctr"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 err="1">
                          <a:solidFill>
                            <a:schemeClr val="bg1"/>
                          </a:solidFill>
                        </a:rPr>
                        <a:t>acces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bg1"/>
                          </a:solidFill>
                        </a:rPr>
                        <a:t>educațional</a:t>
                      </a:r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marL="72244" marR="72244" marT="36122" marB="36122" anchor="ctr"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dirty="0" err="1">
                          <a:solidFill>
                            <a:schemeClr val="bg1"/>
                          </a:solidFill>
                        </a:rPr>
                        <a:t>folosește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bg1"/>
                          </a:solidFill>
                        </a:rPr>
                        <a:t>sistemul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bg1"/>
                          </a:solidFill>
                        </a:rPr>
                        <a:t>în</a:t>
                      </a:r>
                      <a:r>
                        <a:rPr lang="en-US" sz="1400" b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chemeClr val="bg1"/>
                          </a:solidFill>
                        </a:rPr>
                        <a:t>laborat</a:t>
                      </a:r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marL="72244" marR="72244" marT="36122" marB="36122" anchor="ctr"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61608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95067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64F989-34D8-B294-BBED-D465B254C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923293"/>
            <a:ext cx="4030132" cy="464172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Alte </a:t>
            </a:r>
            <a:r>
              <a:rPr lang="en-US" b="1" dirty="0" err="1">
                <a:solidFill>
                  <a:schemeClr val="bg1"/>
                </a:solidFill>
              </a:rPr>
              <a:t>informații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relevante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0A98BBA-D3EA-45DC-B8A1-9C61397D4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5862"/>
            <a:ext cx="1170294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5744 h 274629"/>
              <a:gd name="connsiteX2" fmla="*/ 924829 w 1170294"/>
              <a:gd name="connsiteY2" fmla="*/ 0 h 274629"/>
              <a:gd name="connsiteX3" fmla="*/ 1170294 w 1170294"/>
              <a:gd name="connsiteY3" fmla="*/ 24546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577 h 274629"/>
              <a:gd name="connsiteX11" fmla="*/ 215168 w 1170294"/>
              <a:gd name="connsiteY11" fmla="*/ 23574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5744"/>
                </a:lnTo>
                <a:lnTo>
                  <a:pt x="924829" y="0"/>
                </a:lnTo>
                <a:lnTo>
                  <a:pt x="1170294" y="24546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577"/>
                </a:lnTo>
                <a:lnTo>
                  <a:pt x="215168" y="235744"/>
                </a:lnTo>
                <a:close/>
              </a:path>
            </a:pathLst>
          </a:cu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E4C95AB-2BD7-4E38-BDD5-1E41F3A9B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90894"/>
            <a:ext cx="1170294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8174 h 274629"/>
              <a:gd name="connsiteX2" fmla="*/ 924829 w 1170294"/>
              <a:gd name="connsiteY2" fmla="*/ 0 h 274629"/>
              <a:gd name="connsiteX3" fmla="*/ 1170294 w 1170294"/>
              <a:gd name="connsiteY3" fmla="*/ 24789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789 h 274629"/>
              <a:gd name="connsiteX11" fmla="*/ 215168 w 1170294"/>
              <a:gd name="connsiteY11" fmla="*/ 23817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8174"/>
                </a:lnTo>
                <a:lnTo>
                  <a:pt x="924829" y="0"/>
                </a:lnTo>
                <a:lnTo>
                  <a:pt x="1170294" y="24789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789"/>
                </a:lnTo>
                <a:lnTo>
                  <a:pt x="215168" y="23817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C7A024B-C439-9429-0E52-0CE23B2F58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34868" y="1130846"/>
            <a:ext cx="5217173" cy="43513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Sistemul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poate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funcționa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offline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sau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în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cloud (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pentru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antrenare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modele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Poate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fi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extins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ulterior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pentru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 genera scene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complexe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(nu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doar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forme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simple).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Include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componentă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simulare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și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vizualizare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interactivă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3D.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5836128-58DE-4E5A-B27E-DFE747CA0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121348" y="5364542"/>
            <a:ext cx="1562428" cy="1493465"/>
            <a:chOff x="3121343" y="4864099"/>
            <a:chExt cx="2085971" cy="1993901"/>
          </a:xfrm>
          <a:solidFill>
            <a:schemeClr val="bg1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38556" y="4981312"/>
              <a:ext cx="442726" cy="44272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8809" y="4871565"/>
              <a:ext cx="902626" cy="902626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1343" y="4864099"/>
              <a:ext cx="1152732" cy="1152732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52324" y="4894707"/>
              <a:ext cx="1321462" cy="1321838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15037" y="4957793"/>
              <a:ext cx="1428975" cy="1428975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301642" y="5044398"/>
              <a:ext cx="1490195" cy="1490195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09523" y="5152279"/>
              <a:ext cx="1509607" cy="1509607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538685" y="5279576"/>
              <a:ext cx="1488326" cy="1490192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83896" y="5426652"/>
              <a:ext cx="1429720" cy="1429720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DA0090F-4FBF-434D-83B1-B274F83A9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01021" y="5597624"/>
              <a:ext cx="1275308" cy="1260376"/>
            </a:xfrm>
            <a:custGeom>
              <a:avLst/>
              <a:gdLst>
                <a:gd name="connsiteX0" fmla="*/ 1260376 w 1275308"/>
                <a:gd name="connsiteY0" fmla="*/ 0 h 1260376"/>
                <a:gd name="connsiteX1" fmla="*/ 1275308 w 1275308"/>
                <a:gd name="connsiteY1" fmla="*/ 52634 h 1260376"/>
                <a:gd name="connsiteX2" fmla="*/ 67566 w 1275308"/>
                <a:gd name="connsiteY2" fmla="*/ 1260376 h 1260376"/>
                <a:gd name="connsiteX3" fmla="*/ 0 w 1275308"/>
                <a:gd name="connsiteY3" fmla="*/ 1260376 h 126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5308" h="1260376">
                  <a:moveTo>
                    <a:pt x="1260376" y="0"/>
                  </a:moveTo>
                  <a:cubicBezTo>
                    <a:pt x="1265977" y="17174"/>
                    <a:pt x="1270829" y="34716"/>
                    <a:pt x="1275308" y="52634"/>
                  </a:cubicBezTo>
                  <a:lnTo>
                    <a:pt x="67566" y="1260376"/>
                  </a:lnTo>
                  <a:lnTo>
                    <a:pt x="0" y="1260376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8DF6032-C07A-45C6-8A4F-04EF4EDC0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41456" y="5797338"/>
              <a:ext cx="1065858" cy="1060662"/>
            </a:xfrm>
            <a:custGeom>
              <a:avLst/>
              <a:gdLst>
                <a:gd name="connsiteX0" fmla="*/ 1061006 w 1065858"/>
                <a:gd name="connsiteY0" fmla="*/ 0 h 1060662"/>
                <a:gd name="connsiteX1" fmla="*/ 1065858 w 1065858"/>
                <a:gd name="connsiteY1" fmla="*/ 62342 h 1060662"/>
                <a:gd name="connsiteX2" fmla="*/ 67196 w 1065858"/>
                <a:gd name="connsiteY2" fmla="*/ 1060662 h 1060662"/>
                <a:gd name="connsiteX3" fmla="*/ 0 w 1065858"/>
                <a:gd name="connsiteY3" fmla="*/ 1060662 h 1060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5858" h="1060662">
                  <a:moveTo>
                    <a:pt x="1061006" y="0"/>
                  </a:moveTo>
                  <a:cubicBezTo>
                    <a:pt x="1063248" y="20905"/>
                    <a:pt x="1064741" y="41809"/>
                    <a:pt x="1065858" y="62342"/>
                  </a:cubicBezTo>
                  <a:lnTo>
                    <a:pt x="67196" y="1060662"/>
                  </a:lnTo>
                  <a:lnTo>
                    <a:pt x="0" y="106066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5B89F44-A096-479D-AD1F-120561C282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1830" y="6039978"/>
              <a:ext cx="818022" cy="818022"/>
            </a:xfrm>
            <a:custGeom>
              <a:avLst/>
              <a:gdLst>
                <a:gd name="connsiteX0" fmla="*/ 818022 w 818022"/>
                <a:gd name="connsiteY0" fmla="*/ 0 h 818022"/>
                <a:gd name="connsiteX1" fmla="*/ 804584 w 818022"/>
                <a:gd name="connsiteY1" fmla="*/ 80632 h 818022"/>
                <a:gd name="connsiteX2" fmla="*/ 67190 w 818022"/>
                <a:gd name="connsiteY2" fmla="*/ 818022 h 818022"/>
                <a:gd name="connsiteX3" fmla="*/ 0 w 818022"/>
                <a:gd name="connsiteY3" fmla="*/ 818022 h 818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8022" h="818022">
                  <a:moveTo>
                    <a:pt x="818022" y="0"/>
                  </a:moveTo>
                  <a:cubicBezTo>
                    <a:pt x="814660" y="27250"/>
                    <a:pt x="810180" y="53755"/>
                    <a:pt x="804584" y="80632"/>
                  </a:cubicBezTo>
                  <a:lnTo>
                    <a:pt x="67190" y="818022"/>
                  </a:lnTo>
                  <a:lnTo>
                    <a:pt x="0" y="81802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47375" y="6390131"/>
              <a:ext cx="442354" cy="442354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34920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Rectangle 206">
            <a:extLst>
              <a:ext uri="{FF2B5EF4-FFF2-40B4-BE49-F238E27FC236}">
                <a16:creationId xmlns:a16="http://schemas.microsoft.com/office/drawing/2014/main" id="{8B646C36-EEEC-4D52-8E8E-206F4CD8A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cap="all" spc="600" dirty="0"/>
          </a:p>
        </p:txBody>
      </p: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E7E9D86A-D513-48F9-851A-5F3725E8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1565" y="330817"/>
            <a:ext cx="4833901" cy="5995583"/>
            <a:chOff x="1754444" y="330817"/>
            <a:chExt cx="4833901" cy="5995583"/>
          </a:xfrm>
        </p:grpSpPr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8258443E-B333-44F4-8D49-1EAB1C1A46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4444" y="330817"/>
              <a:ext cx="4833901" cy="5995583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09132A4E-0C09-40DA-A360-EA9D3DAFFB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754444" y="330817"/>
              <a:ext cx="4833901" cy="5995583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3" name="Rectangle 212">
            <a:extLst>
              <a:ext uri="{FF2B5EF4-FFF2-40B4-BE49-F238E27FC236}">
                <a16:creationId xmlns:a16="http://schemas.microsoft.com/office/drawing/2014/main" id="{D649D88F-3460-4C52-888E-001C62B26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21649" y="213740"/>
            <a:ext cx="4833901" cy="5995583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F847927-513E-C7EC-6EF4-FD4BFD1EF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3794" y="661878"/>
            <a:ext cx="4069306" cy="13339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Siteografie</a:t>
            </a:r>
            <a:endParaRPr lang="en-US" sz="5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15" name="Freeform: Shape 214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7" name="Freeform: Shape 216">
            <a:extLst>
              <a:ext uri="{FF2B5EF4-FFF2-40B4-BE49-F238E27FC236}">
                <a16:creationId xmlns:a16="http://schemas.microsoft.com/office/drawing/2014/main" id="{217DD14E-3BC7-413D-B4AB-B92EED2F5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9" name="Graphic 212">
            <a:extLst>
              <a:ext uri="{FF2B5EF4-FFF2-40B4-BE49-F238E27FC236}">
                <a16:creationId xmlns:a16="http://schemas.microsoft.com/office/drawing/2014/main" id="{4FB204DF-284E-45F6-A017-79A4DF57B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798490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1" name="Graphic 212">
            <a:extLst>
              <a:ext uri="{FF2B5EF4-FFF2-40B4-BE49-F238E27FC236}">
                <a16:creationId xmlns:a16="http://schemas.microsoft.com/office/drawing/2014/main" id="{6908275D-177E-42F2-8887-134AFE8B7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798490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3" name="Oval 222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5340" y="5287341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25" name="Oval 224">
            <a:extLst>
              <a:ext uri="{FF2B5EF4-FFF2-40B4-BE49-F238E27FC236}">
                <a16:creationId xmlns:a16="http://schemas.microsoft.com/office/drawing/2014/main" id="{E32B36D4-0C87-4882-A12C-18A91DBAE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5340" y="5287341"/>
            <a:ext cx="319941" cy="31994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27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" name="Rectangle 2">
            <a:extLst>
              <a:ext uri="{FF2B5EF4-FFF2-40B4-BE49-F238E27FC236}">
                <a16:creationId xmlns:a16="http://schemas.microsoft.com/office/drawing/2014/main" id="{18419B31-B0BD-44FE-9A92-476E8A5EA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1647" y="256877"/>
            <a:ext cx="4833901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Chen, X. et al. (2025). </a:t>
            </a:r>
            <a:r>
              <a:rPr kumimoji="0" lang="en-US" altLang="en-US" sz="140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 Generative Approach to High Fidelity 3D Reconstruction.</a:t>
            </a:r>
            <a:b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https://arxiv.org/html/2503.03664v1</a:t>
            </a: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Liu, Y. et al. (2024). </a:t>
            </a:r>
            <a:r>
              <a:rPr kumimoji="0" lang="en-US" altLang="en-US" sz="140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DIRECT-3D: Learning Direct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Text-to-3D Generation on Massive Noisy 3D Data.</a:t>
            </a:r>
            <a:b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https://openaccess.thecvf.com/content/CVPR2024/papers/Liu_DIRECT-3D_Learning_Direct_Text-to-3D_Generation_on_Massive_Noisy_3D_Data_CVPR_2024_paper.pdf</a:t>
            </a: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Autodesk Research. (2024). </a:t>
            </a:r>
            <a:r>
              <a:rPr kumimoji="0" lang="en-US" altLang="en-US" sz="140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AI in Generative Design and Manufacturing.</a:t>
            </a:r>
            <a:b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https://www.sciencedirect.com/science/article/pii/S2212827124012356</a:t>
            </a: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Blender Foundation. (2025). </a:t>
            </a:r>
            <a:r>
              <a:rPr kumimoji="0" lang="en-US" altLang="en-US" sz="140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Blender Python API Documentation.</a:t>
            </a:r>
            <a:b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https://docs.blender.org/api/current/index.html</a:t>
            </a: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Hugging Face. (2025). </a:t>
            </a:r>
            <a:r>
              <a:rPr kumimoji="0" lang="en-US" altLang="en-US" sz="140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Transformers Library – Official Documentation.</a:t>
            </a:r>
            <a:b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https://huggingface.co/docs/transformers/index</a:t>
            </a: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OpenAI Research Blog. (2022). </a:t>
            </a:r>
            <a:r>
              <a:rPr kumimoji="0" lang="en-US" altLang="en-US" sz="140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Language Models as Code Generators.</a:t>
            </a:r>
            <a:b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https://openai.com/research</a:t>
            </a: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128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1183</Words>
  <Application>Microsoft Office PowerPoint</Application>
  <PresentationFormat>Widescreen</PresentationFormat>
  <Paragraphs>145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Generarea de forme 3D în Blender cu ajutorul Rețelelor Neuronale</vt:lpstr>
      <vt:lpstr>1. Descriere Nevoie</vt:lpstr>
      <vt:lpstr>Ideea generală a proiectului </vt:lpstr>
      <vt:lpstr>Domeniul Industrial de Interes (DII): </vt:lpstr>
      <vt:lpstr>Stadiul actual al domeniului</vt:lpstr>
      <vt:lpstr>Nevoi identificate / ce poate îmbunătăți AI-ul</vt:lpstr>
      <vt:lpstr>Beneficii măsurabile </vt:lpstr>
      <vt:lpstr>Nevoi din ecosistemul FIIR/UPB</vt:lpstr>
      <vt:lpstr>Surse relevante (3+)</vt:lpstr>
      <vt:lpstr>2. Descrierea Sistemului cu Inteligență Artificială ales</vt:lpstr>
      <vt:lpstr>Propunerea SIA-ului</vt:lpstr>
      <vt:lpstr>Capabilități și roluri</vt:lpstr>
      <vt:lpstr>Arhitectura sistemului</vt:lpstr>
      <vt:lpstr>Fluxurile de date</vt:lpstr>
      <vt:lpstr>Datele de intrare/ieșire</vt:lpstr>
      <vt:lpstr>Tehnologii utilizate</vt:lpstr>
      <vt:lpstr>Utilizatori și roluri</vt:lpstr>
      <vt:lpstr>Alte informații relevante</vt:lpstr>
      <vt:lpstr>Siteografie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Denisa-Elena CĂLDĂRARU (140344)</dc:creator>
  <cp:lastModifiedBy>Denisa-Elena CĂLDĂRARU (140344)</cp:lastModifiedBy>
  <cp:revision>5</cp:revision>
  <dcterms:created xsi:type="dcterms:W3CDTF">2025-11-11T12:27:39Z</dcterms:created>
  <dcterms:modified xsi:type="dcterms:W3CDTF">2025-11-13T16:22:44Z</dcterms:modified>
</cp:coreProperties>
</file>